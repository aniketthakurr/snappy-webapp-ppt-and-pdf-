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DM Sans" pitchFamily="2" charset="0"/>
      <p:regular r:id="rId13"/>
      <p:bold r:id="rId14"/>
      <p:italic r:id="rId15"/>
      <p:boldItalic r:id="rId16"/>
    </p:embeddedFont>
    <p:embeddedFont>
      <p:font typeface="DM Sans Italics" panose="020B0604020202020204" charset="0"/>
      <p:regular r:id="rId17"/>
    </p:embeddedFont>
    <p:embeddedFont>
      <p:font typeface="Inter" panose="020B0604020202020204" charset="0"/>
      <p:regular r:id="rId18"/>
    </p:embeddedFont>
    <p:embeddedFont>
      <p:font typeface="Inter Bold" panose="020B0604020202020204" charset="0"/>
      <p:regular r:id="rId19"/>
    </p:embeddedFont>
    <p:embeddedFont>
      <p:font typeface="Inter Italics"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3607D1-CDF3-4E58-A7B2-CEA5983F852E}" v="36" dt="2025-11-30T17:53:44.8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52" d="100"/>
          <a:sy n="52" d="100"/>
        </p:scale>
        <p:origin x="87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a:ln w="12700">
              <a:solidFill>
                <a:srgbClr val="000000"/>
              </a:solidFill>
            </a:ln>
          </p:spPr>
        </p:sp>
      </p:grpSp>
      <p:grpSp>
        <p:nvGrpSpPr>
          <p:cNvPr id="4" name="Group 4"/>
          <p:cNvGrpSpPr/>
          <p:nvPr/>
        </p:nvGrpSpPr>
        <p:grpSpPr>
          <a:xfrm>
            <a:off x="27039" y="0"/>
            <a:ext cx="18288000" cy="10287000"/>
            <a:chOff x="36052" y="0"/>
            <a:chExt cx="24384000" cy="13716000"/>
          </a:xfrm>
        </p:grpSpPr>
        <p:sp>
          <p:nvSpPr>
            <p:cNvPr id="5" name="Freeform 5"/>
            <p:cNvSpPr/>
            <p:nvPr/>
          </p:nvSpPr>
          <p:spPr>
            <a:xfrm>
              <a:off x="36052"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a:ln w="12700">
              <a:solidFill>
                <a:srgbClr val="000000"/>
              </a:solidFill>
            </a:ln>
          </p:spPr>
          <p:txBody>
            <a:bodyPr/>
            <a:lstStyle/>
            <a:p>
              <a:endParaRPr lang="en-IN" dirty="0"/>
            </a:p>
          </p:txBody>
        </p:sp>
      </p:grpSp>
      <p:sp>
        <p:nvSpPr>
          <p:cNvPr id="10" name="TextBox 10"/>
          <p:cNvSpPr txBox="1"/>
          <p:nvPr/>
        </p:nvSpPr>
        <p:spPr>
          <a:xfrm>
            <a:off x="7850237" y="2200721"/>
            <a:ext cx="7600156" cy="862012"/>
          </a:xfrm>
          <a:prstGeom prst="rect">
            <a:avLst/>
          </a:prstGeom>
        </p:spPr>
        <p:txBody>
          <a:bodyPr lIns="0" tIns="0" rIns="0" bIns="0" rtlCol="0" anchor="t">
            <a:spAutoFit/>
          </a:bodyPr>
          <a:lstStyle/>
          <a:p>
            <a:pPr algn="l">
              <a:lnSpc>
                <a:spcPts val="6937"/>
              </a:lnSpc>
            </a:pPr>
            <a:r>
              <a:rPr lang="en-US" sz="5562">
                <a:solidFill>
                  <a:srgbClr val="161613"/>
                </a:solidFill>
                <a:latin typeface="DM Sans"/>
                <a:ea typeface="DM Sans"/>
                <a:cs typeface="DM Sans"/>
                <a:sym typeface="DM Sans"/>
              </a:rPr>
              <a:t>INTRODUCTION</a:t>
            </a:r>
          </a:p>
        </p:txBody>
      </p:sp>
      <p:sp>
        <p:nvSpPr>
          <p:cNvPr id="11" name="TextBox 11"/>
          <p:cNvSpPr txBox="1"/>
          <p:nvPr/>
        </p:nvSpPr>
        <p:spPr>
          <a:xfrm>
            <a:off x="7850237" y="3445222"/>
            <a:ext cx="9409063" cy="3995737"/>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The </a:t>
            </a:r>
            <a:r>
              <a:rPr lang="en-US" sz="2187" i="1">
                <a:solidFill>
                  <a:srgbClr val="161613"/>
                </a:solidFill>
                <a:latin typeface="Inter Italics"/>
                <a:ea typeface="Inter Italics"/>
                <a:cs typeface="Inter Italics"/>
                <a:sym typeface="Inter Italics"/>
              </a:rPr>
              <a:t>DAVU Placement Management System</a:t>
            </a:r>
            <a:r>
              <a:rPr lang="en-US" sz="2187">
                <a:solidFill>
                  <a:srgbClr val="161613"/>
                </a:solidFill>
                <a:latin typeface="Inter"/>
                <a:ea typeface="Inter"/>
                <a:cs typeface="Inter"/>
                <a:sym typeface="Inter"/>
              </a:rPr>
              <a:t> is a web-based application designed to streamline the placement process for university. It provides a centralized platform where administrators, TPOs, and students can efficiently manage placement activities. The system automates tasks such as posting jobs, tracking applications, uploading resumes, managing company details, and monitoring student eligibility. By integrating modern web technologies, the platform enhances transparency, reduces manual work, and ensures a smoother, faster, and more organized placement experience for all stakeholders.</a:t>
            </a:r>
          </a:p>
        </p:txBody>
      </p:sp>
      <p:pic>
        <p:nvPicPr>
          <p:cNvPr id="13" name="Picture 12" descr="A piece of paper pinned to a cork board&#10;&#10;AI-generated content may be incorrect.">
            <a:extLst>
              <a:ext uri="{FF2B5EF4-FFF2-40B4-BE49-F238E27FC236}">
                <a16:creationId xmlns:a16="http://schemas.microsoft.com/office/drawing/2014/main" id="{D085B763-E939-0A7B-AFD3-AF48C481C108}"/>
              </a:ext>
            </a:extLst>
          </p:cNvPr>
          <p:cNvPicPr>
            <a:picLocks noChangeAspect="1"/>
          </p:cNvPicPr>
          <p:nvPr/>
        </p:nvPicPr>
        <p:blipFill>
          <a:blip r:embed="rId3"/>
          <a:stretch>
            <a:fillRect/>
          </a:stretch>
        </p:blipFill>
        <p:spPr>
          <a:xfrm>
            <a:off x="370115" y="2632982"/>
            <a:ext cx="6836228" cy="5086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a:ln w="12700">
              <a:solidFill>
                <a:srgbClr val="000000"/>
              </a:solidFill>
            </a:ln>
          </p:spPr>
        </p:sp>
      </p:grpSp>
      <p:sp>
        <p:nvSpPr>
          <p:cNvPr id="6" name="TextBox 6"/>
          <p:cNvSpPr txBox="1"/>
          <p:nvPr/>
        </p:nvSpPr>
        <p:spPr>
          <a:xfrm>
            <a:off x="992237" y="1906637"/>
            <a:ext cx="10735846" cy="693738"/>
          </a:xfrm>
          <a:prstGeom prst="rect">
            <a:avLst/>
          </a:prstGeom>
        </p:spPr>
        <p:txBody>
          <a:bodyPr lIns="0" tIns="0" rIns="0" bIns="0" rtlCol="0" anchor="t">
            <a:spAutoFit/>
          </a:bodyPr>
          <a:lstStyle/>
          <a:p>
            <a:pPr algn="l">
              <a:lnSpc>
                <a:spcPts val="5562"/>
              </a:lnSpc>
            </a:pPr>
            <a:r>
              <a:rPr lang="en-US" sz="4437">
                <a:solidFill>
                  <a:srgbClr val="161613"/>
                </a:solidFill>
                <a:latin typeface="DM Sans"/>
                <a:ea typeface="DM Sans"/>
                <a:cs typeface="DM Sans"/>
                <a:sym typeface="DM Sans"/>
              </a:rPr>
              <a:t>Understanding the Need for PMS</a:t>
            </a:r>
          </a:p>
        </p:txBody>
      </p:sp>
      <p:grpSp>
        <p:nvGrpSpPr>
          <p:cNvPr id="7" name="Group 7"/>
          <p:cNvGrpSpPr>
            <a:grpSpLocks noChangeAspect="1"/>
          </p:cNvGrpSpPr>
          <p:nvPr/>
        </p:nvGrpSpPr>
        <p:grpSpPr>
          <a:xfrm>
            <a:off x="992238" y="3378548"/>
            <a:ext cx="5103614" cy="2835325"/>
            <a:chOff x="0" y="0"/>
            <a:chExt cx="6804818" cy="3780433"/>
          </a:xfrm>
        </p:grpSpPr>
        <p:sp>
          <p:nvSpPr>
            <p:cNvPr id="8" name="Freeform 8" descr="preencoded.png"/>
            <p:cNvSpPr/>
            <p:nvPr/>
          </p:nvSpPr>
          <p:spPr>
            <a:xfrm>
              <a:off x="0" y="0"/>
              <a:ext cx="6804787" cy="3780409"/>
            </a:xfrm>
            <a:custGeom>
              <a:avLst/>
              <a:gdLst/>
              <a:ahLst/>
              <a:cxnLst/>
              <a:rect l="l" t="t" r="r" b="b"/>
              <a:pathLst>
                <a:path w="6804787" h="3780409">
                  <a:moveTo>
                    <a:pt x="0" y="0"/>
                  </a:moveTo>
                  <a:lnTo>
                    <a:pt x="6804787" y="0"/>
                  </a:lnTo>
                  <a:lnTo>
                    <a:pt x="6804787" y="3780409"/>
                  </a:lnTo>
                  <a:lnTo>
                    <a:pt x="0" y="3780409"/>
                  </a:lnTo>
                  <a:lnTo>
                    <a:pt x="0" y="0"/>
                  </a:lnTo>
                  <a:close/>
                </a:path>
              </a:pathLst>
            </a:custGeom>
            <a:blipFill>
              <a:blip r:embed="rId3"/>
              <a:stretch>
                <a:fillRect t="-37" b="-38"/>
              </a:stretch>
            </a:blipFill>
          </p:spPr>
        </p:sp>
      </p:grpSp>
      <p:sp>
        <p:nvSpPr>
          <p:cNvPr id="9" name="TextBox 9"/>
          <p:cNvSpPr txBox="1"/>
          <p:nvPr/>
        </p:nvSpPr>
        <p:spPr>
          <a:xfrm>
            <a:off x="9499401" y="3228975"/>
            <a:ext cx="7805886" cy="2807494"/>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A Placement Management System helps universities avoid manual errors, save time, and improve coordination between students, TPOs, and recruiters. It centralizes all placement activities—job postings, applications, resume uploads, and company data—making the entire process faster, organized, and more efficient.</a:t>
            </a:r>
          </a:p>
        </p:txBody>
      </p:sp>
      <p:sp>
        <p:nvSpPr>
          <p:cNvPr id="10" name="TextBox 10"/>
          <p:cNvSpPr txBox="1"/>
          <p:nvPr/>
        </p:nvSpPr>
        <p:spPr>
          <a:xfrm>
            <a:off x="9499401" y="6205835"/>
            <a:ext cx="7805886" cy="1900237"/>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 It ensures accurate record-keeping, faster decision-making, improved transparency, and seamless coordination between students, the Training &amp; Placement Office (TPO), and recruiters. </a:t>
            </a:r>
          </a:p>
        </p:txBody>
      </p:sp>
      <p:pic>
        <p:nvPicPr>
          <p:cNvPr id="13" name="Picture 12">
            <a:extLst>
              <a:ext uri="{FF2B5EF4-FFF2-40B4-BE49-F238E27FC236}">
                <a16:creationId xmlns:a16="http://schemas.microsoft.com/office/drawing/2014/main" id="{95A29781-E128-D42E-30E4-88B4B784E451}"/>
              </a:ext>
            </a:extLst>
          </p:cNvPr>
          <p:cNvPicPr>
            <a:picLocks noChangeAspect="1"/>
          </p:cNvPicPr>
          <p:nvPr/>
        </p:nvPicPr>
        <p:blipFill>
          <a:blip r:embed="rId4"/>
          <a:stretch>
            <a:fillRect/>
          </a:stretch>
        </p:blipFill>
        <p:spPr>
          <a:xfrm>
            <a:off x="982713" y="3228975"/>
            <a:ext cx="6162675" cy="46786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a:ln w="12700">
              <a:solidFill>
                <a:srgbClr val="000000"/>
              </a:solidFill>
            </a:ln>
          </p:spPr>
        </p:sp>
      </p:grpSp>
      <p:sp>
        <p:nvSpPr>
          <p:cNvPr id="6" name="TextBox 6"/>
          <p:cNvSpPr txBox="1"/>
          <p:nvPr/>
        </p:nvSpPr>
        <p:spPr>
          <a:xfrm>
            <a:off x="942529" y="711994"/>
            <a:ext cx="10326589" cy="666750"/>
          </a:xfrm>
          <a:prstGeom prst="rect">
            <a:avLst/>
          </a:prstGeom>
        </p:spPr>
        <p:txBody>
          <a:bodyPr lIns="0" tIns="0" rIns="0" bIns="0" rtlCol="0" anchor="t">
            <a:spAutoFit/>
          </a:bodyPr>
          <a:lstStyle/>
          <a:p>
            <a:pPr algn="l">
              <a:lnSpc>
                <a:spcPts val="5250"/>
              </a:lnSpc>
            </a:pPr>
            <a:r>
              <a:rPr lang="en-US" sz="4187">
                <a:solidFill>
                  <a:srgbClr val="161613"/>
                </a:solidFill>
                <a:latin typeface="DM Sans"/>
                <a:ea typeface="DM Sans"/>
                <a:cs typeface="DM Sans"/>
                <a:sym typeface="DM Sans"/>
              </a:rPr>
              <a:t>Key Roles &amp; Streamlined Workflow</a:t>
            </a:r>
          </a:p>
        </p:txBody>
      </p:sp>
      <p:sp>
        <p:nvSpPr>
          <p:cNvPr id="7" name="TextBox 7"/>
          <p:cNvSpPr txBox="1"/>
          <p:nvPr/>
        </p:nvSpPr>
        <p:spPr>
          <a:xfrm>
            <a:off x="942529" y="1857078"/>
            <a:ext cx="16402942" cy="957262"/>
          </a:xfrm>
          <a:prstGeom prst="rect">
            <a:avLst/>
          </a:prstGeom>
        </p:spPr>
        <p:txBody>
          <a:bodyPr lIns="0" tIns="0" rIns="0" bIns="0" rtlCol="0" anchor="t">
            <a:spAutoFit/>
          </a:bodyPr>
          <a:lstStyle/>
          <a:p>
            <a:pPr algn="l">
              <a:lnSpc>
                <a:spcPts val="3374"/>
              </a:lnSpc>
            </a:pPr>
            <a:r>
              <a:rPr lang="en-US" sz="2062">
                <a:solidFill>
                  <a:srgbClr val="161613"/>
                </a:solidFill>
                <a:latin typeface="Inter"/>
                <a:ea typeface="Inter"/>
                <a:cs typeface="Inter"/>
                <a:sym typeface="Inter"/>
              </a:rPr>
              <a:t>Our PMS is designed with distinct user roles, ensuring a smooth and efficient workflow for everyone involved in the placement process.</a:t>
            </a:r>
          </a:p>
        </p:txBody>
      </p:sp>
      <p:grpSp>
        <p:nvGrpSpPr>
          <p:cNvPr id="8" name="Group 8"/>
          <p:cNvGrpSpPr/>
          <p:nvPr/>
        </p:nvGrpSpPr>
        <p:grpSpPr>
          <a:xfrm>
            <a:off x="923479" y="3098155"/>
            <a:ext cx="8104882" cy="2904827"/>
            <a:chOff x="0" y="0"/>
            <a:chExt cx="10806510" cy="3873103"/>
          </a:xfrm>
        </p:grpSpPr>
        <p:sp>
          <p:nvSpPr>
            <p:cNvPr id="9" name="Freeform 9"/>
            <p:cNvSpPr/>
            <p:nvPr/>
          </p:nvSpPr>
          <p:spPr>
            <a:xfrm>
              <a:off x="25400" y="25400"/>
              <a:ext cx="10755757" cy="3822319"/>
            </a:xfrm>
            <a:custGeom>
              <a:avLst/>
              <a:gdLst/>
              <a:ahLst/>
              <a:cxnLst/>
              <a:rect l="l" t="t" r="r" b="b"/>
              <a:pathLst>
                <a:path w="10755757" h="3822319">
                  <a:moveTo>
                    <a:pt x="0" y="53848"/>
                  </a:moveTo>
                  <a:cubicBezTo>
                    <a:pt x="0" y="24130"/>
                    <a:pt x="24257" y="0"/>
                    <a:pt x="54356" y="0"/>
                  </a:cubicBezTo>
                  <a:lnTo>
                    <a:pt x="10701401" y="0"/>
                  </a:lnTo>
                  <a:cubicBezTo>
                    <a:pt x="10731373" y="0"/>
                    <a:pt x="10755757" y="24130"/>
                    <a:pt x="10755757" y="53848"/>
                  </a:cubicBezTo>
                  <a:lnTo>
                    <a:pt x="10755757" y="3768471"/>
                  </a:lnTo>
                  <a:cubicBezTo>
                    <a:pt x="10755757" y="3798189"/>
                    <a:pt x="10731500" y="3822319"/>
                    <a:pt x="10701401" y="3822319"/>
                  </a:cubicBezTo>
                  <a:lnTo>
                    <a:pt x="54356" y="3822319"/>
                  </a:lnTo>
                  <a:cubicBezTo>
                    <a:pt x="24384" y="3822319"/>
                    <a:pt x="0" y="3798189"/>
                    <a:pt x="0" y="3768471"/>
                  </a:cubicBezTo>
                  <a:close/>
                </a:path>
              </a:pathLst>
            </a:custGeom>
            <a:solidFill>
              <a:srgbClr val="F9F8F5"/>
            </a:solidFill>
            <a:ln w="12700">
              <a:solidFill>
                <a:srgbClr val="000000"/>
              </a:solidFill>
            </a:ln>
          </p:spPr>
        </p:sp>
        <p:sp>
          <p:nvSpPr>
            <p:cNvPr id="10" name="Freeform 10"/>
            <p:cNvSpPr/>
            <p:nvPr/>
          </p:nvSpPr>
          <p:spPr>
            <a:xfrm>
              <a:off x="0" y="0"/>
              <a:ext cx="10806557" cy="3873119"/>
            </a:xfrm>
            <a:custGeom>
              <a:avLst/>
              <a:gdLst/>
              <a:ahLst/>
              <a:cxnLst/>
              <a:rect l="l" t="t" r="r" b="b"/>
              <a:pathLst>
                <a:path w="10806557" h="3873119">
                  <a:moveTo>
                    <a:pt x="0" y="79248"/>
                  </a:moveTo>
                  <a:cubicBezTo>
                    <a:pt x="0" y="35306"/>
                    <a:pt x="35941" y="0"/>
                    <a:pt x="79756" y="0"/>
                  </a:cubicBezTo>
                  <a:lnTo>
                    <a:pt x="10726801" y="0"/>
                  </a:lnTo>
                  <a:lnTo>
                    <a:pt x="10726801" y="25400"/>
                  </a:lnTo>
                  <a:lnTo>
                    <a:pt x="10726801" y="0"/>
                  </a:lnTo>
                  <a:cubicBezTo>
                    <a:pt x="10770616" y="0"/>
                    <a:pt x="10806557" y="35306"/>
                    <a:pt x="10806557" y="79248"/>
                  </a:cubicBezTo>
                  <a:lnTo>
                    <a:pt x="10781157" y="79248"/>
                  </a:lnTo>
                  <a:lnTo>
                    <a:pt x="10806557" y="79248"/>
                  </a:lnTo>
                  <a:lnTo>
                    <a:pt x="10806557" y="3793871"/>
                  </a:lnTo>
                  <a:lnTo>
                    <a:pt x="10781157" y="3793871"/>
                  </a:lnTo>
                  <a:lnTo>
                    <a:pt x="10806557" y="3793871"/>
                  </a:lnTo>
                  <a:cubicBezTo>
                    <a:pt x="10806557" y="3837813"/>
                    <a:pt x="10770616" y="3873119"/>
                    <a:pt x="10726801" y="3873119"/>
                  </a:cubicBezTo>
                  <a:lnTo>
                    <a:pt x="10726801" y="3847719"/>
                  </a:lnTo>
                  <a:lnTo>
                    <a:pt x="10726801" y="3873119"/>
                  </a:lnTo>
                  <a:lnTo>
                    <a:pt x="79756" y="3873119"/>
                  </a:lnTo>
                  <a:lnTo>
                    <a:pt x="79756" y="3847719"/>
                  </a:lnTo>
                  <a:lnTo>
                    <a:pt x="79756" y="3873119"/>
                  </a:lnTo>
                  <a:cubicBezTo>
                    <a:pt x="35941" y="3873119"/>
                    <a:pt x="0" y="3837813"/>
                    <a:pt x="0" y="3793871"/>
                  </a:cubicBezTo>
                  <a:lnTo>
                    <a:pt x="0" y="79248"/>
                  </a:lnTo>
                  <a:lnTo>
                    <a:pt x="25400" y="79248"/>
                  </a:lnTo>
                  <a:lnTo>
                    <a:pt x="0" y="79248"/>
                  </a:lnTo>
                  <a:moveTo>
                    <a:pt x="50800" y="79248"/>
                  </a:moveTo>
                  <a:lnTo>
                    <a:pt x="50800" y="3793871"/>
                  </a:lnTo>
                  <a:lnTo>
                    <a:pt x="25400" y="3793871"/>
                  </a:lnTo>
                  <a:lnTo>
                    <a:pt x="50800" y="3793871"/>
                  </a:lnTo>
                  <a:cubicBezTo>
                    <a:pt x="50800" y="3809365"/>
                    <a:pt x="63500" y="3822319"/>
                    <a:pt x="79756" y="3822319"/>
                  </a:cubicBezTo>
                  <a:lnTo>
                    <a:pt x="10726801" y="3822319"/>
                  </a:lnTo>
                  <a:cubicBezTo>
                    <a:pt x="10742930" y="3822319"/>
                    <a:pt x="10755757" y="3809365"/>
                    <a:pt x="10755757" y="3793871"/>
                  </a:cubicBezTo>
                  <a:lnTo>
                    <a:pt x="10755757" y="79248"/>
                  </a:lnTo>
                  <a:cubicBezTo>
                    <a:pt x="10755757" y="63754"/>
                    <a:pt x="10743057" y="50800"/>
                    <a:pt x="10726801" y="50800"/>
                  </a:cubicBezTo>
                  <a:lnTo>
                    <a:pt x="79756" y="50800"/>
                  </a:lnTo>
                  <a:lnTo>
                    <a:pt x="79756" y="25400"/>
                  </a:lnTo>
                  <a:lnTo>
                    <a:pt x="79756" y="50800"/>
                  </a:lnTo>
                  <a:cubicBezTo>
                    <a:pt x="63500" y="50800"/>
                    <a:pt x="50800" y="63754"/>
                    <a:pt x="50800" y="79248"/>
                  </a:cubicBezTo>
                  <a:close/>
                </a:path>
              </a:pathLst>
            </a:custGeom>
            <a:solidFill>
              <a:srgbClr val="D3D1C9"/>
            </a:solidFill>
            <a:ln w="12700">
              <a:solidFill>
                <a:srgbClr val="000000"/>
              </a:solidFill>
            </a:ln>
          </p:spPr>
        </p:sp>
      </p:grpSp>
      <p:grpSp>
        <p:nvGrpSpPr>
          <p:cNvPr id="11" name="Group 11"/>
          <p:cNvGrpSpPr/>
          <p:nvPr/>
        </p:nvGrpSpPr>
        <p:grpSpPr>
          <a:xfrm>
            <a:off x="980629" y="3155305"/>
            <a:ext cx="7990582" cy="807839"/>
            <a:chOff x="0" y="0"/>
            <a:chExt cx="10654110" cy="1077118"/>
          </a:xfrm>
        </p:grpSpPr>
        <p:sp>
          <p:nvSpPr>
            <p:cNvPr id="12" name="Freeform 12"/>
            <p:cNvSpPr/>
            <p:nvPr/>
          </p:nvSpPr>
          <p:spPr>
            <a:xfrm>
              <a:off x="0" y="0"/>
              <a:ext cx="10654157" cy="1077087"/>
            </a:xfrm>
            <a:custGeom>
              <a:avLst/>
              <a:gdLst/>
              <a:ahLst/>
              <a:cxnLst/>
              <a:rect l="l" t="t" r="r" b="b"/>
              <a:pathLst>
                <a:path w="10654157" h="1077087">
                  <a:moveTo>
                    <a:pt x="0" y="0"/>
                  </a:moveTo>
                  <a:lnTo>
                    <a:pt x="10654157" y="0"/>
                  </a:lnTo>
                  <a:lnTo>
                    <a:pt x="10654157" y="1077087"/>
                  </a:lnTo>
                  <a:lnTo>
                    <a:pt x="0" y="1077087"/>
                  </a:lnTo>
                  <a:close/>
                </a:path>
              </a:pathLst>
            </a:custGeom>
            <a:solidFill>
              <a:srgbClr val="EDEBE3"/>
            </a:solidFill>
            <a:ln w="12700">
              <a:solidFill>
                <a:srgbClr val="000000"/>
              </a:solidFill>
            </a:ln>
          </p:spPr>
        </p:sp>
      </p:grpSp>
      <p:sp>
        <p:nvSpPr>
          <p:cNvPr id="13" name="TextBox 13"/>
          <p:cNvSpPr txBox="1"/>
          <p:nvPr/>
        </p:nvSpPr>
        <p:spPr>
          <a:xfrm>
            <a:off x="4773960" y="3363814"/>
            <a:ext cx="403920" cy="447824"/>
          </a:xfrm>
          <a:prstGeom prst="rect">
            <a:avLst/>
          </a:prstGeom>
        </p:spPr>
        <p:txBody>
          <a:bodyPr lIns="0" tIns="0" rIns="0" bIns="0" rtlCol="0" anchor="t">
            <a:spAutoFit/>
          </a:bodyPr>
          <a:lstStyle/>
          <a:p>
            <a:pPr algn="l">
              <a:lnSpc>
                <a:spcPts val="3125"/>
              </a:lnSpc>
            </a:pPr>
            <a:r>
              <a:rPr lang="en-US" sz="3125">
                <a:solidFill>
                  <a:srgbClr val="161613"/>
                </a:solidFill>
                <a:latin typeface="DM Sans"/>
                <a:ea typeface="DM Sans"/>
                <a:cs typeface="DM Sans"/>
                <a:sym typeface="DM Sans"/>
              </a:rPr>
              <a:t>1</a:t>
            </a:r>
          </a:p>
        </p:txBody>
      </p:sp>
      <p:sp>
        <p:nvSpPr>
          <p:cNvPr id="14" name="TextBox 14"/>
          <p:cNvSpPr txBox="1"/>
          <p:nvPr/>
        </p:nvSpPr>
        <p:spPr>
          <a:xfrm>
            <a:off x="1249859" y="4222849"/>
            <a:ext cx="3366493" cy="430263"/>
          </a:xfrm>
          <a:prstGeom prst="rect">
            <a:avLst/>
          </a:prstGeom>
        </p:spPr>
        <p:txBody>
          <a:bodyPr lIns="0" tIns="0" rIns="0" bIns="0" rtlCol="0" anchor="t">
            <a:spAutoFit/>
          </a:bodyPr>
          <a:lstStyle/>
          <a:p>
            <a:pPr algn="l">
              <a:lnSpc>
                <a:spcPts val="3312"/>
              </a:lnSpc>
            </a:pPr>
            <a:r>
              <a:rPr lang="en-US" sz="2625">
                <a:solidFill>
                  <a:srgbClr val="161613"/>
                </a:solidFill>
                <a:latin typeface="DM Sans"/>
                <a:ea typeface="DM Sans"/>
                <a:cs typeface="DM Sans"/>
                <a:sym typeface="DM Sans"/>
              </a:rPr>
              <a:t>Students</a:t>
            </a:r>
          </a:p>
        </p:txBody>
      </p:sp>
      <p:sp>
        <p:nvSpPr>
          <p:cNvPr id="15" name="TextBox 15"/>
          <p:cNvSpPr txBox="1"/>
          <p:nvPr/>
        </p:nvSpPr>
        <p:spPr>
          <a:xfrm>
            <a:off x="1249859" y="4719340"/>
            <a:ext cx="7452123" cy="957262"/>
          </a:xfrm>
          <a:prstGeom prst="rect">
            <a:avLst/>
          </a:prstGeom>
        </p:spPr>
        <p:txBody>
          <a:bodyPr lIns="0" tIns="0" rIns="0" bIns="0" rtlCol="0" anchor="t">
            <a:spAutoFit/>
          </a:bodyPr>
          <a:lstStyle/>
          <a:p>
            <a:pPr algn="l">
              <a:lnSpc>
                <a:spcPts val="3374"/>
              </a:lnSpc>
            </a:pPr>
            <a:r>
              <a:rPr lang="en-US" sz="2062">
                <a:solidFill>
                  <a:srgbClr val="161613"/>
                </a:solidFill>
                <a:latin typeface="Inter"/>
                <a:ea typeface="Inter"/>
                <a:cs typeface="Inter"/>
                <a:sym typeface="Inter"/>
              </a:rPr>
              <a:t>Access job postings, apply to companies, track application status, and manage their profiles.</a:t>
            </a:r>
          </a:p>
        </p:txBody>
      </p:sp>
      <p:grpSp>
        <p:nvGrpSpPr>
          <p:cNvPr id="16" name="Group 16"/>
          <p:cNvGrpSpPr/>
          <p:nvPr/>
        </p:nvGrpSpPr>
        <p:grpSpPr>
          <a:xfrm>
            <a:off x="9259491" y="3098155"/>
            <a:ext cx="8105031" cy="2904827"/>
            <a:chOff x="0" y="0"/>
            <a:chExt cx="10806708" cy="3873103"/>
          </a:xfrm>
        </p:grpSpPr>
        <p:sp>
          <p:nvSpPr>
            <p:cNvPr id="17" name="Freeform 17"/>
            <p:cNvSpPr/>
            <p:nvPr/>
          </p:nvSpPr>
          <p:spPr>
            <a:xfrm>
              <a:off x="25400" y="25400"/>
              <a:ext cx="10756012" cy="3822319"/>
            </a:xfrm>
            <a:custGeom>
              <a:avLst/>
              <a:gdLst/>
              <a:ahLst/>
              <a:cxnLst/>
              <a:rect l="l" t="t" r="r" b="b"/>
              <a:pathLst>
                <a:path w="10756012" h="3822319">
                  <a:moveTo>
                    <a:pt x="0" y="53848"/>
                  </a:moveTo>
                  <a:cubicBezTo>
                    <a:pt x="0" y="24130"/>
                    <a:pt x="24257" y="0"/>
                    <a:pt x="54356" y="0"/>
                  </a:cubicBezTo>
                  <a:lnTo>
                    <a:pt x="10701655" y="0"/>
                  </a:lnTo>
                  <a:cubicBezTo>
                    <a:pt x="10731627" y="0"/>
                    <a:pt x="10756012" y="24130"/>
                    <a:pt x="10756012" y="53848"/>
                  </a:cubicBezTo>
                  <a:lnTo>
                    <a:pt x="10756012" y="3768471"/>
                  </a:lnTo>
                  <a:cubicBezTo>
                    <a:pt x="10756012" y="3798189"/>
                    <a:pt x="10731754" y="3822319"/>
                    <a:pt x="10701655" y="3822319"/>
                  </a:cubicBezTo>
                  <a:lnTo>
                    <a:pt x="54356" y="3822319"/>
                  </a:lnTo>
                  <a:cubicBezTo>
                    <a:pt x="24384" y="3822319"/>
                    <a:pt x="0" y="3798189"/>
                    <a:pt x="0" y="3768471"/>
                  </a:cubicBezTo>
                  <a:close/>
                </a:path>
              </a:pathLst>
            </a:custGeom>
            <a:solidFill>
              <a:srgbClr val="F9F8F5"/>
            </a:solidFill>
            <a:ln w="12700">
              <a:solidFill>
                <a:srgbClr val="000000"/>
              </a:solidFill>
            </a:ln>
          </p:spPr>
        </p:sp>
        <p:sp>
          <p:nvSpPr>
            <p:cNvPr id="18" name="Freeform 18"/>
            <p:cNvSpPr/>
            <p:nvPr/>
          </p:nvSpPr>
          <p:spPr>
            <a:xfrm>
              <a:off x="0" y="0"/>
              <a:ext cx="10806812" cy="3873119"/>
            </a:xfrm>
            <a:custGeom>
              <a:avLst/>
              <a:gdLst/>
              <a:ahLst/>
              <a:cxnLst/>
              <a:rect l="l" t="t" r="r" b="b"/>
              <a:pathLst>
                <a:path w="10806812" h="3873119">
                  <a:moveTo>
                    <a:pt x="0" y="79248"/>
                  </a:moveTo>
                  <a:cubicBezTo>
                    <a:pt x="0" y="35306"/>
                    <a:pt x="35941" y="0"/>
                    <a:pt x="79756" y="0"/>
                  </a:cubicBezTo>
                  <a:lnTo>
                    <a:pt x="10727055" y="0"/>
                  </a:lnTo>
                  <a:lnTo>
                    <a:pt x="10727055" y="25400"/>
                  </a:lnTo>
                  <a:lnTo>
                    <a:pt x="10727055" y="0"/>
                  </a:lnTo>
                  <a:cubicBezTo>
                    <a:pt x="10770870" y="0"/>
                    <a:pt x="10806812" y="35306"/>
                    <a:pt x="10806812" y="79248"/>
                  </a:cubicBezTo>
                  <a:lnTo>
                    <a:pt x="10781412" y="79248"/>
                  </a:lnTo>
                  <a:lnTo>
                    <a:pt x="10806812" y="79248"/>
                  </a:lnTo>
                  <a:lnTo>
                    <a:pt x="10806812" y="3793871"/>
                  </a:lnTo>
                  <a:lnTo>
                    <a:pt x="10781412" y="3793871"/>
                  </a:lnTo>
                  <a:lnTo>
                    <a:pt x="10806812" y="3793871"/>
                  </a:lnTo>
                  <a:cubicBezTo>
                    <a:pt x="10806812" y="3837813"/>
                    <a:pt x="10770870" y="3873119"/>
                    <a:pt x="10727055" y="3873119"/>
                  </a:cubicBezTo>
                  <a:lnTo>
                    <a:pt x="10727055" y="3847719"/>
                  </a:lnTo>
                  <a:lnTo>
                    <a:pt x="10727055" y="3873119"/>
                  </a:lnTo>
                  <a:lnTo>
                    <a:pt x="79756" y="3873119"/>
                  </a:lnTo>
                  <a:lnTo>
                    <a:pt x="79756" y="3847719"/>
                  </a:lnTo>
                  <a:lnTo>
                    <a:pt x="79756" y="3873119"/>
                  </a:lnTo>
                  <a:cubicBezTo>
                    <a:pt x="35941" y="3873119"/>
                    <a:pt x="0" y="3837813"/>
                    <a:pt x="0" y="3793871"/>
                  </a:cubicBezTo>
                  <a:lnTo>
                    <a:pt x="0" y="79248"/>
                  </a:lnTo>
                  <a:lnTo>
                    <a:pt x="25400" y="79248"/>
                  </a:lnTo>
                  <a:lnTo>
                    <a:pt x="0" y="79248"/>
                  </a:lnTo>
                  <a:moveTo>
                    <a:pt x="50800" y="79248"/>
                  </a:moveTo>
                  <a:lnTo>
                    <a:pt x="50800" y="3793871"/>
                  </a:lnTo>
                  <a:lnTo>
                    <a:pt x="25400" y="3793871"/>
                  </a:lnTo>
                  <a:lnTo>
                    <a:pt x="50800" y="3793871"/>
                  </a:lnTo>
                  <a:cubicBezTo>
                    <a:pt x="50800" y="3809365"/>
                    <a:pt x="63500" y="3822319"/>
                    <a:pt x="79756" y="3822319"/>
                  </a:cubicBezTo>
                  <a:lnTo>
                    <a:pt x="10727055" y="3822319"/>
                  </a:lnTo>
                  <a:cubicBezTo>
                    <a:pt x="10743185" y="3822319"/>
                    <a:pt x="10756012" y="3809365"/>
                    <a:pt x="10756012" y="3793871"/>
                  </a:cubicBezTo>
                  <a:lnTo>
                    <a:pt x="10756012" y="79248"/>
                  </a:lnTo>
                  <a:cubicBezTo>
                    <a:pt x="10756012" y="63754"/>
                    <a:pt x="10743312" y="50800"/>
                    <a:pt x="10727055" y="50800"/>
                  </a:cubicBezTo>
                  <a:lnTo>
                    <a:pt x="79756" y="50800"/>
                  </a:lnTo>
                  <a:lnTo>
                    <a:pt x="79756" y="25400"/>
                  </a:lnTo>
                  <a:lnTo>
                    <a:pt x="79756" y="50800"/>
                  </a:lnTo>
                  <a:cubicBezTo>
                    <a:pt x="63500" y="50800"/>
                    <a:pt x="50800" y="63754"/>
                    <a:pt x="50800" y="79248"/>
                  </a:cubicBezTo>
                  <a:close/>
                </a:path>
              </a:pathLst>
            </a:custGeom>
            <a:solidFill>
              <a:srgbClr val="D3D1C9"/>
            </a:solidFill>
            <a:ln w="12700">
              <a:solidFill>
                <a:srgbClr val="000000"/>
              </a:solidFill>
            </a:ln>
          </p:spPr>
        </p:sp>
      </p:grpSp>
      <p:grpSp>
        <p:nvGrpSpPr>
          <p:cNvPr id="19" name="Group 19"/>
          <p:cNvGrpSpPr/>
          <p:nvPr/>
        </p:nvGrpSpPr>
        <p:grpSpPr>
          <a:xfrm>
            <a:off x="9316640" y="3155305"/>
            <a:ext cx="7990731" cy="807839"/>
            <a:chOff x="0" y="0"/>
            <a:chExt cx="10654308" cy="1077118"/>
          </a:xfrm>
        </p:grpSpPr>
        <p:sp>
          <p:nvSpPr>
            <p:cNvPr id="20" name="Freeform 20"/>
            <p:cNvSpPr/>
            <p:nvPr/>
          </p:nvSpPr>
          <p:spPr>
            <a:xfrm>
              <a:off x="0" y="0"/>
              <a:ext cx="10654284" cy="1077087"/>
            </a:xfrm>
            <a:custGeom>
              <a:avLst/>
              <a:gdLst/>
              <a:ahLst/>
              <a:cxnLst/>
              <a:rect l="l" t="t" r="r" b="b"/>
              <a:pathLst>
                <a:path w="10654284" h="1077087">
                  <a:moveTo>
                    <a:pt x="0" y="0"/>
                  </a:moveTo>
                  <a:lnTo>
                    <a:pt x="10654284" y="0"/>
                  </a:lnTo>
                  <a:lnTo>
                    <a:pt x="10654284" y="1077087"/>
                  </a:lnTo>
                  <a:lnTo>
                    <a:pt x="0" y="1077087"/>
                  </a:lnTo>
                  <a:close/>
                </a:path>
              </a:pathLst>
            </a:custGeom>
            <a:solidFill>
              <a:srgbClr val="EDEBE3"/>
            </a:solidFill>
            <a:ln w="12700">
              <a:solidFill>
                <a:srgbClr val="000000"/>
              </a:solidFill>
            </a:ln>
          </p:spPr>
        </p:sp>
      </p:grpSp>
      <p:sp>
        <p:nvSpPr>
          <p:cNvPr id="21" name="TextBox 21"/>
          <p:cNvSpPr txBox="1"/>
          <p:nvPr/>
        </p:nvSpPr>
        <p:spPr>
          <a:xfrm>
            <a:off x="13109972" y="3363814"/>
            <a:ext cx="403920" cy="447824"/>
          </a:xfrm>
          <a:prstGeom prst="rect">
            <a:avLst/>
          </a:prstGeom>
        </p:spPr>
        <p:txBody>
          <a:bodyPr lIns="0" tIns="0" rIns="0" bIns="0" rtlCol="0" anchor="t">
            <a:spAutoFit/>
          </a:bodyPr>
          <a:lstStyle/>
          <a:p>
            <a:pPr algn="l">
              <a:lnSpc>
                <a:spcPts val="3125"/>
              </a:lnSpc>
            </a:pPr>
            <a:r>
              <a:rPr lang="en-US" sz="3125">
                <a:solidFill>
                  <a:srgbClr val="161613"/>
                </a:solidFill>
                <a:latin typeface="DM Sans"/>
                <a:ea typeface="DM Sans"/>
                <a:cs typeface="DM Sans"/>
                <a:sym typeface="DM Sans"/>
              </a:rPr>
              <a:t>2</a:t>
            </a:r>
          </a:p>
        </p:txBody>
      </p:sp>
      <p:sp>
        <p:nvSpPr>
          <p:cNvPr id="22" name="TextBox 22"/>
          <p:cNvSpPr txBox="1"/>
          <p:nvPr/>
        </p:nvSpPr>
        <p:spPr>
          <a:xfrm>
            <a:off x="9585871" y="4222849"/>
            <a:ext cx="3366493" cy="430263"/>
          </a:xfrm>
          <a:prstGeom prst="rect">
            <a:avLst/>
          </a:prstGeom>
        </p:spPr>
        <p:txBody>
          <a:bodyPr lIns="0" tIns="0" rIns="0" bIns="0" rtlCol="0" anchor="t">
            <a:spAutoFit/>
          </a:bodyPr>
          <a:lstStyle/>
          <a:p>
            <a:pPr algn="l">
              <a:lnSpc>
                <a:spcPts val="3312"/>
              </a:lnSpc>
            </a:pPr>
            <a:r>
              <a:rPr lang="en-US" sz="2625">
                <a:solidFill>
                  <a:srgbClr val="161613"/>
                </a:solidFill>
                <a:latin typeface="DM Sans"/>
                <a:ea typeface="DM Sans"/>
                <a:cs typeface="DM Sans"/>
                <a:sym typeface="DM Sans"/>
              </a:rPr>
              <a:t>TPO Admin</a:t>
            </a:r>
          </a:p>
        </p:txBody>
      </p:sp>
      <p:sp>
        <p:nvSpPr>
          <p:cNvPr id="23" name="TextBox 23"/>
          <p:cNvSpPr txBox="1"/>
          <p:nvPr/>
        </p:nvSpPr>
        <p:spPr>
          <a:xfrm>
            <a:off x="9585871" y="4719340"/>
            <a:ext cx="7452271" cy="957262"/>
          </a:xfrm>
          <a:prstGeom prst="rect">
            <a:avLst/>
          </a:prstGeom>
        </p:spPr>
        <p:txBody>
          <a:bodyPr lIns="0" tIns="0" rIns="0" bIns="0" rtlCol="0" anchor="t">
            <a:spAutoFit/>
          </a:bodyPr>
          <a:lstStyle/>
          <a:p>
            <a:pPr algn="l">
              <a:lnSpc>
                <a:spcPts val="3374"/>
              </a:lnSpc>
            </a:pPr>
            <a:r>
              <a:rPr lang="en-US" sz="2062">
                <a:solidFill>
                  <a:srgbClr val="161613"/>
                </a:solidFill>
                <a:latin typeface="Inter"/>
                <a:ea typeface="Inter"/>
                <a:cs typeface="Inter"/>
                <a:sym typeface="Inter"/>
              </a:rPr>
              <a:t>Manage company registrations, approve job postings, track student applications, and facilitate interviews.</a:t>
            </a:r>
          </a:p>
        </p:txBody>
      </p:sp>
      <p:grpSp>
        <p:nvGrpSpPr>
          <p:cNvPr id="24" name="Group 24"/>
          <p:cNvGrpSpPr/>
          <p:nvPr/>
        </p:nvGrpSpPr>
        <p:grpSpPr>
          <a:xfrm>
            <a:off x="923479" y="6234112"/>
            <a:ext cx="8104882" cy="3335834"/>
            <a:chOff x="0" y="0"/>
            <a:chExt cx="10806510" cy="4447778"/>
          </a:xfrm>
        </p:grpSpPr>
        <p:sp>
          <p:nvSpPr>
            <p:cNvPr id="25" name="Freeform 25"/>
            <p:cNvSpPr/>
            <p:nvPr/>
          </p:nvSpPr>
          <p:spPr>
            <a:xfrm>
              <a:off x="25400" y="25400"/>
              <a:ext cx="10755757" cy="4396994"/>
            </a:xfrm>
            <a:custGeom>
              <a:avLst/>
              <a:gdLst/>
              <a:ahLst/>
              <a:cxnLst/>
              <a:rect l="l" t="t" r="r" b="b"/>
              <a:pathLst>
                <a:path w="10755757" h="4396994">
                  <a:moveTo>
                    <a:pt x="0" y="53848"/>
                  </a:moveTo>
                  <a:cubicBezTo>
                    <a:pt x="0" y="24130"/>
                    <a:pt x="24257" y="0"/>
                    <a:pt x="54229" y="0"/>
                  </a:cubicBezTo>
                  <a:lnTo>
                    <a:pt x="10701528" y="0"/>
                  </a:lnTo>
                  <a:cubicBezTo>
                    <a:pt x="10731500" y="0"/>
                    <a:pt x="10755757" y="24130"/>
                    <a:pt x="10755757" y="53848"/>
                  </a:cubicBezTo>
                  <a:lnTo>
                    <a:pt x="10755757" y="4343146"/>
                  </a:lnTo>
                  <a:cubicBezTo>
                    <a:pt x="10755757" y="4372864"/>
                    <a:pt x="10731500" y="4396994"/>
                    <a:pt x="10701528" y="4396994"/>
                  </a:cubicBezTo>
                  <a:lnTo>
                    <a:pt x="54229" y="4396994"/>
                  </a:lnTo>
                  <a:cubicBezTo>
                    <a:pt x="24257" y="4396994"/>
                    <a:pt x="0" y="4372864"/>
                    <a:pt x="0" y="4343146"/>
                  </a:cubicBezTo>
                  <a:close/>
                </a:path>
              </a:pathLst>
            </a:custGeom>
            <a:solidFill>
              <a:srgbClr val="F9F8F5"/>
            </a:solidFill>
            <a:ln w="12700">
              <a:solidFill>
                <a:srgbClr val="000000"/>
              </a:solidFill>
            </a:ln>
          </p:spPr>
        </p:sp>
        <p:sp>
          <p:nvSpPr>
            <p:cNvPr id="26" name="Freeform 26"/>
            <p:cNvSpPr/>
            <p:nvPr/>
          </p:nvSpPr>
          <p:spPr>
            <a:xfrm>
              <a:off x="0" y="0"/>
              <a:ext cx="10806557" cy="4447794"/>
            </a:xfrm>
            <a:custGeom>
              <a:avLst/>
              <a:gdLst/>
              <a:ahLst/>
              <a:cxnLst/>
              <a:rect l="l" t="t" r="r" b="b"/>
              <a:pathLst>
                <a:path w="10806557" h="4447794">
                  <a:moveTo>
                    <a:pt x="0" y="79248"/>
                  </a:moveTo>
                  <a:cubicBezTo>
                    <a:pt x="0" y="35306"/>
                    <a:pt x="35814" y="0"/>
                    <a:pt x="79629" y="0"/>
                  </a:cubicBezTo>
                  <a:lnTo>
                    <a:pt x="10726928" y="0"/>
                  </a:lnTo>
                  <a:lnTo>
                    <a:pt x="10726928" y="25400"/>
                  </a:lnTo>
                  <a:lnTo>
                    <a:pt x="10726928" y="0"/>
                  </a:lnTo>
                  <a:cubicBezTo>
                    <a:pt x="10770743" y="0"/>
                    <a:pt x="10806557" y="35306"/>
                    <a:pt x="10806557" y="79248"/>
                  </a:cubicBezTo>
                  <a:lnTo>
                    <a:pt x="10781157" y="79248"/>
                  </a:lnTo>
                  <a:lnTo>
                    <a:pt x="10806557" y="79248"/>
                  </a:lnTo>
                  <a:lnTo>
                    <a:pt x="10806557" y="4368546"/>
                  </a:lnTo>
                  <a:lnTo>
                    <a:pt x="10781157" y="4368546"/>
                  </a:lnTo>
                  <a:lnTo>
                    <a:pt x="10806557" y="4368546"/>
                  </a:lnTo>
                  <a:cubicBezTo>
                    <a:pt x="10806557" y="4412488"/>
                    <a:pt x="10770743" y="4447794"/>
                    <a:pt x="10726928" y="4447794"/>
                  </a:cubicBezTo>
                  <a:lnTo>
                    <a:pt x="10726928" y="4422394"/>
                  </a:lnTo>
                  <a:lnTo>
                    <a:pt x="10726928" y="4447794"/>
                  </a:lnTo>
                  <a:lnTo>
                    <a:pt x="79629" y="4447794"/>
                  </a:lnTo>
                  <a:lnTo>
                    <a:pt x="79629" y="4422394"/>
                  </a:lnTo>
                  <a:lnTo>
                    <a:pt x="79629" y="4447794"/>
                  </a:lnTo>
                  <a:cubicBezTo>
                    <a:pt x="35814" y="4447794"/>
                    <a:pt x="0" y="4412488"/>
                    <a:pt x="0" y="4368546"/>
                  </a:cubicBezTo>
                  <a:lnTo>
                    <a:pt x="0" y="79248"/>
                  </a:lnTo>
                  <a:lnTo>
                    <a:pt x="25400" y="79248"/>
                  </a:lnTo>
                  <a:lnTo>
                    <a:pt x="0" y="79248"/>
                  </a:lnTo>
                  <a:moveTo>
                    <a:pt x="50800" y="79248"/>
                  </a:moveTo>
                  <a:lnTo>
                    <a:pt x="50800" y="4368546"/>
                  </a:lnTo>
                  <a:lnTo>
                    <a:pt x="25400" y="4368546"/>
                  </a:lnTo>
                  <a:lnTo>
                    <a:pt x="50800" y="4368546"/>
                  </a:lnTo>
                  <a:cubicBezTo>
                    <a:pt x="50800" y="4384167"/>
                    <a:pt x="63500" y="4396994"/>
                    <a:pt x="79629" y="4396994"/>
                  </a:cubicBezTo>
                  <a:lnTo>
                    <a:pt x="10726928" y="4396994"/>
                  </a:lnTo>
                  <a:cubicBezTo>
                    <a:pt x="10743057" y="4396994"/>
                    <a:pt x="10755757" y="4384040"/>
                    <a:pt x="10755757" y="4368546"/>
                  </a:cubicBezTo>
                  <a:lnTo>
                    <a:pt x="10755757" y="79248"/>
                  </a:lnTo>
                  <a:cubicBezTo>
                    <a:pt x="10755757" y="63627"/>
                    <a:pt x="10743057" y="50800"/>
                    <a:pt x="10726928" y="50800"/>
                  </a:cubicBezTo>
                  <a:lnTo>
                    <a:pt x="79629" y="50800"/>
                  </a:lnTo>
                  <a:lnTo>
                    <a:pt x="79629" y="25400"/>
                  </a:lnTo>
                  <a:lnTo>
                    <a:pt x="79629" y="50800"/>
                  </a:lnTo>
                  <a:cubicBezTo>
                    <a:pt x="63500" y="50800"/>
                    <a:pt x="50800" y="63754"/>
                    <a:pt x="50800" y="79248"/>
                  </a:cubicBezTo>
                  <a:close/>
                </a:path>
              </a:pathLst>
            </a:custGeom>
            <a:solidFill>
              <a:srgbClr val="D3D1C9"/>
            </a:solidFill>
            <a:ln w="12700">
              <a:solidFill>
                <a:srgbClr val="000000"/>
              </a:solidFill>
            </a:ln>
          </p:spPr>
        </p:sp>
      </p:grpSp>
      <p:grpSp>
        <p:nvGrpSpPr>
          <p:cNvPr id="27" name="Group 27"/>
          <p:cNvGrpSpPr/>
          <p:nvPr/>
        </p:nvGrpSpPr>
        <p:grpSpPr>
          <a:xfrm>
            <a:off x="980629" y="6291262"/>
            <a:ext cx="7990582" cy="807839"/>
            <a:chOff x="0" y="0"/>
            <a:chExt cx="10654110" cy="1077118"/>
          </a:xfrm>
        </p:grpSpPr>
        <p:sp>
          <p:nvSpPr>
            <p:cNvPr id="28" name="Freeform 28"/>
            <p:cNvSpPr/>
            <p:nvPr/>
          </p:nvSpPr>
          <p:spPr>
            <a:xfrm>
              <a:off x="0" y="0"/>
              <a:ext cx="10654157" cy="1077087"/>
            </a:xfrm>
            <a:custGeom>
              <a:avLst/>
              <a:gdLst/>
              <a:ahLst/>
              <a:cxnLst/>
              <a:rect l="l" t="t" r="r" b="b"/>
              <a:pathLst>
                <a:path w="10654157" h="1077087">
                  <a:moveTo>
                    <a:pt x="0" y="0"/>
                  </a:moveTo>
                  <a:lnTo>
                    <a:pt x="10654157" y="0"/>
                  </a:lnTo>
                  <a:lnTo>
                    <a:pt x="10654157" y="1077087"/>
                  </a:lnTo>
                  <a:lnTo>
                    <a:pt x="0" y="1077087"/>
                  </a:lnTo>
                  <a:close/>
                </a:path>
              </a:pathLst>
            </a:custGeom>
            <a:solidFill>
              <a:srgbClr val="EDEBE3"/>
            </a:solidFill>
            <a:ln w="12700">
              <a:solidFill>
                <a:srgbClr val="000000"/>
              </a:solidFill>
            </a:ln>
          </p:spPr>
        </p:sp>
      </p:grpSp>
      <p:sp>
        <p:nvSpPr>
          <p:cNvPr id="29" name="TextBox 29"/>
          <p:cNvSpPr txBox="1"/>
          <p:nvPr/>
        </p:nvSpPr>
        <p:spPr>
          <a:xfrm>
            <a:off x="4773960" y="6499771"/>
            <a:ext cx="403920" cy="447824"/>
          </a:xfrm>
          <a:prstGeom prst="rect">
            <a:avLst/>
          </a:prstGeom>
        </p:spPr>
        <p:txBody>
          <a:bodyPr lIns="0" tIns="0" rIns="0" bIns="0" rtlCol="0" anchor="t">
            <a:spAutoFit/>
          </a:bodyPr>
          <a:lstStyle/>
          <a:p>
            <a:pPr algn="l">
              <a:lnSpc>
                <a:spcPts val="3125"/>
              </a:lnSpc>
            </a:pPr>
            <a:r>
              <a:rPr lang="en-US" sz="3125">
                <a:solidFill>
                  <a:srgbClr val="161613"/>
                </a:solidFill>
                <a:latin typeface="DM Sans"/>
                <a:ea typeface="DM Sans"/>
                <a:cs typeface="DM Sans"/>
                <a:sym typeface="DM Sans"/>
              </a:rPr>
              <a:t>3</a:t>
            </a:r>
          </a:p>
        </p:txBody>
      </p:sp>
      <p:sp>
        <p:nvSpPr>
          <p:cNvPr id="30" name="TextBox 30"/>
          <p:cNvSpPr txBox="1"/>
          <p:nvPr/>
        </p:nvSpPr>
        <p:spPr>
          <a:xfrm>
            <a:off x="1249859" y="7358806"/>
            <a:ext cx="3366493" cy="430262"/>
          </a:xfrm>
          <a:prstGeom prst="rect">
            <a:avLst/>
          </a:prstGeom>
        </p:spPr>
        <p:txBody>
          <a:bodyPr lIns="0" tIns="0" rIns="0" bIns="0" rtlCol="0" anchor="t">
            <a:spAutoFit/>
          </a:bodyPr>
          <a:lstStyle/>
          <a:p>
            <a:pPr algn="l">
              <a:lnSpc>
                <a:spcPts val="3312"/>
              </a:lnSpc>
            </a:pPr>
            <a:r>
              <a:rPr lang="en-US" sz="2625">
                <a:solidFill>
                  <a:srgbClr val="161613"/>
                </a:solidFill>
                <a:latin typeface="DM Sans"/>
                <a:ea typeface="DM Sans"/>
                <a:cs typeface="DM Sans"/>
                <a:sym typeface="DM Sans"/>
              </a:rPr>
              <a:t>Management Admin</a:t>
            </a:r>
          </a:p>
        </p:txBody>
      </p:sp>
      <p:sp>
        <p:nvSpPr>
          <p:cNvPr id="31" name="TextBox 31"/>
          <p:cNvSpPr txBox="1"/>
          <p:nvPr/>
        </p:nvSpPr>
        <p:spPr>
          <a:xfrm>
            <a:off x="1249859" y="7855298"/>
            <a:ext cx="7452123" cy="957262"/>
          </a:xfrm>
          <a:prstGeom prst="rect">
            <a:avLst/>
          </a:prstGeom>
        </p:spPr>
        <p:txBody>
          <a:bodyPr lIns="0" tIns="0" rIns="0" bIns="0" rtlCol="0" anchor="t">
            <a:spAutoFit/>
          </a:bodyPr>
          <a:lstStyle/>
          <a:p>
            <a:pPr algn="l">
              <a:lnSpc>
                <a:spcPts val="3374"/>
              </a:lnSpc>
            </a:pPr>
            <a:r>
              <a:rPr lang="en-US" sz="2062">
                <a:solidFill>
                  <a:srgbClr val="161613"/>
                </a:solidFill>
                <a:latin typeface="Inter"/>
                <a:ea typeface="Inter"/>
                <a:cs typeface="Inter"/>
                <a:sym typeface="Inter"/>
              </a:rPr>
              <a:t>Oversee placement statistics, generate reports, and gain insights into overall placement performance.</a:t>
            </a:r>
          </a:p>
        </p:txBody>
      </p:sp>
      <p:grpSp>
        <p:nvGrpSpPr>
          <p:cNvPr id="32" name="Group 32"/>
          <p:cNvGrpSpPr/>
          <p:nvPr/>
        </p:nvGrpSpPr>
        <p:grpSpPr>
          <a:xfrm>
            <a:off x="9259491" y="6234112"/>
            <a:ext cx="8105031" cy="3335834"/>
            <a:chOff x="0" y="0"/>
            <a:chExt cx="10806708" cy="4447778"/>
          </a:xfrm>
        </p:grpSpPr>
        <p:sp>
          <p:nvSpPr>
            <p:cNvPr id="33" name="Freeform 33"/>
            <p:cNvSpPr/>
            <p:nvPr/>
          </p:nvSpPr>
          <p:spPr>
            <a:xfrm>
              <a:off x="25400" y="25400"/>
              <a:ext cx="10755885" cy="4396994"/>
            </a:xfrm>
            <a:custGeom>
              <a:avLst/>
              <a:gdLst/>
              <a:ahLst/>
              <a:cxnLst/>
              <a:rect l="l" t="t" r="r" b="b"/>
              <a:pathLst>
                <a:path w="10755885" h="4396994">
                  <a:moveTo>
                    <a:pt x="0" y="53848"/>
                  </a:moveTo>
                  <a:cubicBezTo>
                    <a:pt x="0" y="24130"/>
                    <a:pt x="24257" y="0"/>
                    <a:pt x="54229" y="0"/>
                  </a:cubicBezTo>
                  <a:lnTo>
                    <a:pt x="10701655" y="0"/>
                  </a:lnTo>
                  <a:cubicBezTo>
                    <a:pt x="10731627" y="0"/>
                    <a:pt x="10755885" y="24130"/>
                    <a:pt x="10755885" y="53848"/>
                  </a:cubicBezTo>
                  <a:lnTo>
                    <a:pt x="10755885" y="4343146"/>
                  </a:lnTo>
                  <a:cubicBezTo>
                    <a:pt x="10755885" y="4372864"/>
                    <a:pt x="10731627" y="4396994"/>
                    <a:pt x="10701655" y="4396994"/>
                  </a:cubicBezTo>
                  <a:lnTo>
                    <a:pt x="54229" y="4396994"/>
                  </a:lnTo>
                  <a:cubicBezTo>
                    <a:pt x="24257" y="4396994"/>
                    <a:pt x="0" y="4372864"/>
                    <a:pt x="0" y="4343146"/>
                  </a:cubicBezTo>
                  <a:close/>
                </a:path>
              </a:pathLst>
            </a:custGeom>
            <a:solidFill>
              <a:srgbClr val="F9F8F5"/>
            </a:solidFill>
            <a:ln w="12700">
              <a:solidFill>
                <a:srgbClr val="000000"/>
              </a:solidFill>
            </a:ln>
          </p:spPr>
        </p:sp>
        <p:sp>
          <p:nvSpPr>
            <p:cNvPr id="34" name="Freeform 34"/>
            <p:cNvSpPr/>
            <p:nvPr/>
          </p:nvSpPr>
          <p:spPr>
            <a:xfrm>
              <a:off x="0" y="0"/>
              <a:ext cx="10806685" cy="4447794"/>
            </a:xfrm>
            <a:custGeom>
              <a:avLst/>
              <a:gdLst/>
              <a:ahLst/>
              <a:cxnLst/>
              <a:rect l="l" t="t" r="r" b="b"/>
              <a:pathLst>
                <a:path w="10806685" h="4447794">
                  <a:moveTo>
                    <a:pt x="0" y="79248"/>
                  </a:moveTo>
                  <a:cubicBezTo>
                    <a:pt x="0" y="35306"/>
                    <a:pt x="35814" y="0"/>
                    <a:pt x="79629" y="0"/>
                  </a:cubicBezTo>
                  <a:lnTo>
                    <a:pt x="10727055" y="0"/>
                  </a:lnTo>
                  <a:lnTo>
                    <a:pt x="10727055" y="25400"/>
                  </a:lnTo>
                  <a:lnTo>
                    <a:pt x="10727055" y="0"/>
                  </a:lnTo>
                  <a:cubicBezTo>
                    <a:pt x="10770870" y="0"/>
                    <a:pt x="10806685" y="35306"/>
                    <a:pt x="10806685" y="79248"/>
                  </a:cubicBezTo>
                  <a:lnTo>
                    <a:pt x="10781285" y="79248"/>
                  </a:lnTo>
                  <a:lnTo>
                    <a:pt x="10806685" y="79248"/>
                  </a:lnTo>
                  <a:lnTo>
                    <a:pt x="10806685" y="4368546"/>
                  </a:lnTo>
                  <a:lnTo>
                    <a:pt x="10781285" y="4368546"/>
                  </a:lnTo>
                  <a:lnTo>
                    <a:pt x="10806685" y="4368546"/>
                  </a:lnTo>
                  <a:cubicBezTo>
                    <a:pt x="10806685" y="4412488"/>
                    <a:pt x="10770870" y="4447794"/>
                    <a:pt x="10727055" y="4447794"/>
                  </a:cubicBezTo>
                  <a:lnTo>
                    <a:pt x="10727055" y="4422394"/>
                  </a:lnTo>
                  <a:lnTo>
                    <a:pt x="10727055" y="4447794"/>
                  </a:lnTo>
                  <a:lnTo>
                    <a:pt x="79629" y="4447794"/>
                  </a:lnTo>
                  <a:lnTo>
                    <a:pt x="79629" y="4422394"/>
                  </a:lnTo>
                  <a:lnTo>
                    <a:pt x="79629" y="4447794"/>
                  </a:lnTo>
                  <a:cubicBezTo>
                    <a:pt x="35814" y="4447794"/>
                    <a:pt x="0" y="4412488"/>
                    <a:pt x="0" y="4368546"/>
                  </a:cubicBezTo>
                  <a:lnTo>
                    <a:pt x="0" y="79248"/>
                  </a:lnTo>
                  <a:lnTo>
                    <a:pt x="25400" y="79248"/>
                  </a:lnTo>
                  <a:lnTo>
                    <a:pt x="0" y="79248"/>
                  </a:lnTo>
                  <a:moveTo>
                    <a:pt x="50800" y="79248"/>
                  </a:moveTo>
                  <a:lnTo>
                    <a:pt x="50800" y="4368546"/>
                  </a:lnTo>
                  <a:lnTo>
                    <a:pt x="25400" y="4368546"/>
                  </a:lnTo>
                  <a:lnTo>
                    <a:pt x="50800" y="4368546"/>
                  </a:lnTo>
                  <a:cubicBezTo>
                    <a:pt x="50800" y="4384167"/>
                    <a:pt x="63500" y="4396994"/>
                    <a:pt x="79629" y="4396994"/>
                  </a:cubicBezTo>
                  <a:lnTo>
                    <a:pt x="10727055" y="4396994"/>
                  </a:lnTo>
                  <a:cubicBezTo>
                    <a:pt x="10743185" y="4396994"/>
                    <a:pt x="10755885" y="4384040"/>
                    <a:pt x="10755885" y="4368546"/>
                  </a:cubicBezTo>
                  <a:lnTo>
                    <a:pt x="10755885" y="79248"/>
                  </a:lnTo>
                  <a:cubicBezTo>
                    <a:pt x="10755885" y="63627"/>
                    <a:pt x="10743185" y="50800"/>
                    <a:pt x="10727055" y="50800"/>
                  </a:cubicBezTo>
                  <a:lnTo>
                    <a:pt x="79629" y="50800"/>
                  </a:lnTo>
                  <a:lnTo>
                    <a:pt x="79629" y="25400"/>
                  </a:lnTo>
                  <a:lnTo>
                    <a:pt x="79629" y="50800"/>
                  </a:lnTo>
                  <a:cubicBezTo>
                    <a:pt x="63500" y="50800"/>
                    <a:pt x="50800" y="63754"/>
                    <a:pt x="50800" y="79248"/>
                  </a:cubicBezTo>
                  <a:close/>
                </a:path>
              </a:pathLst>
            </a:custGeom>
            <a:solidFill>
              <a:srgbClr val="D3D1C9"/>
            </a:solidFill>
            <a:ln w="12700">
              <a:solidFill>
                <a:srgbClr val="000000"/>
              </a:solidFill>
            </a:ln>
          </p:spPr>
        </p:sp>
      </p:grpSp>
      <p:grpSp>
        <p:nvGrpSpPr>
          <p:cNvPr id="35" name="Group 35"/>
          <p:cNvGrpSpPr/>
          <p:nvPr/>
        </p:nvGrpSpPr>
        <p:grpSpPr>
          <a:xfrm>
            <a:off x="9316640" y="6291262"/>
            <a:ext cx="7990731" cy="807839"/>
            <a:chOff x="0" y="0"/>
            <a:chExt cx="10654308" cy="1077118"/>
          </a:xfrm>
        </p:grpSpPr>
        <p:sp>
          <p:nvSpPr>
            <p:cNvPr id="36" name="Freeform 36"/>
            <p:cNvSpPr/>
            <p:nvPr/>
          </p:nvSpPr>
          <p:spPr>
            <a:xfrm>
              <a:off x="0" y="0"/>
              <a:ext cx="10654284" cy="1077087"/>
            </a:xfrm>
            <a:custGeom>
              <a:avLst/>
              <a:gdLst/>
              <a:ahLst/>
              <a:cxnLst/>
              <a:rect l="l" t="t" r="r" b="b"/>
              <a:pathLst>
                <a:path w="10654284" h="1077087">
                  <a:moveTo>
                    <a:pt x="0" y="0"/>
                  </a:moveTo>
                  <a:lnTo>
                    <a:pt x="10654284" y="0"/>
                  </a:lnTo>
                  <a:lnTo>
                    <a:pt x="10654284" y="1077087"/>
                  </a:lnTo>
                  <a:lnTo>
                    <a:pt x="0" y="1077087"/>
                  </a:lnTo>
                  <a:close/>
                </a:path>
              </a:pathLst>
            </a:custGeom>
            <a:solidFill>
              <a:srgbClr val="EDEBE3"/>
            </a:solidFill>
            <a:ln w="12700">
              <a:solidFill>
                <a:srgbClr val="000000"/>
              </a:solidFill>
            </a:ln>
          </p:spPr>
        </p:sp>
      </p:grpSp>
      <p:sp>
        <p:nvSpPr>
          <p:cNvPr id="37" name="TextBox 37"/>
          <p:cNvSpPr txBox="1"/>
          <p:nvPr/>
        </p:nvSpPr>
        <p:spPr>
          <a:xfrm>
            <a:off x="13109972" y="6499771"/>
            <a:ext cx="403920" cy="447824"/>
          </a:xfrm>
          <a:prstGeom prst="rect">
            <a:avLst/>
          </a:prstGeom>
        </p:spPr>
        <p:txBody>
          <a:bodyPr lIns="0" tIns="0" rIns="0" bIns="0" rtlCol="0" anchor="t">
            <a:spAutoFit/>
          </a:bodyPr>
          <a:lstStyle/>
          <a:p>
            <a:pPr algn="l">
              <a:lnSpc>
                <a:spcPts val="3125"/>
              </a:lnSpc>
            </a:pPr>
            <a:r>
              <a:rPr lang="en-US" sz="3125">
                <a:solidFill>
                  <a:srgbClr val="161613"/>
                </a:solidFill>
                <a:latin typeface="DM Sans"/>
                <a:ea typeface="DM Sans"/>
                <a:cs typeface="DM Sans"/>
                <a:sym typeface="DM Sans"/>
              </a:rPr>
              <a:t>4</a:t>
            </a:r>
          </a:p>
        </p:txBody>
      </p:sp>
      <p:sp>
        <p:nvSpPr>
          <p:cNvPr id="38" name="TextBox 38"/>
          <p:cNvSpPr txBox="1"/>
          <p:nvPr/>
        </p:nvSpPr>
        <p:spPr>
          <a:xfrm>
            <a:off x="9585871" y="7358806"/>
            <a:ext cx="3366493" cy="430262"/>
          </a:xfrm>
          <a:prstGeom prst="rect">
            <a:avLst/>
          </a:prstGeom>
        </p:spPr>
        <p:txBody>
          <a:bodyPr lIns="0" tIns="0" rIns="0" bIns="0" rtlCol="0" anchor="t">
            <a:spAutoFit/>
          </a:bodyPr>
          <a:lstStyle/>
          <a:p>
            <a:pPr algn="l">
              <a:lnSpc>
                <a:spcPts val="3312"/>
              </a:lnSpc>
            </a:pPr>
            <a:r>
              <a:rPr lang="en-US" sz="2625">
                <a:solidFill>
                  <a:srgbClr val="161613"/>
                </a:solidFill>
                <a:latin typeface="DM Sans"/>
                <a:ea typeface="DM Sans"/>
                <a:cs typeface="DM Sans"/>
                <a:sym typeface="DM Sans"/>
              </a:rPr>
              <a:t>Super Admin</a:t>
            </a:r>
          </a:p>
        </p:txBody>
      </p:sp>
      <p:sp>
        <p:nvSpPr>
          <p:cNvPr id="39" name="TextBox 39"/>
          <p:cNvSpPr txBox="1"/>
          <p:nvPr/>
        </p:nvSpPr>
        <p:spPr>
          <a:xfrm>
            <a:off x="9585871" y="7855298"/>
            <a:ext cx="7452271" cy="1388269"/>
          </a:xfrm>
          <a:prstGeom prst="rect">
            <a:avLst/>
          </a:prstGeom>
        </p:spPr>
        <p:txBody>
          <a:bodyPr lIns="0" tIns="0" rIns="0" bIns="0" rtlCol="0" anchor="t">
            <a:spAutoFit/>
          </a:bodyPr>
          <a:lstStyle/>
          <a:p>
            <a:pPr algn="l">
              <a:lnSpc>
                <a:spcPts val="3374"/>
              </a:lnSpc>
            </a:pPr>
            <a:r>
              <a:rPr lang="en-US" sz="2062">
                <a:solidFill>
                  <a:srgbClr val="161613"/>
                </a:solidFill>
                <a:latin typeface="Inter"/>
                <a:ea typeface="Inter"/>
                <a:cs typeface="Inter"/>
                <a:sym typeface="Inter"/>
              </a:rPr>
              <a:t>Full control over system configurations, user management, and global settings to ensure seamless operation.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a:ln w="12700">
              <a:solidFill>
                <a:srgbClr val="000000"/>
              </a:solidFill>
            </a:ln>
          </p:spPr>
        </p:sp>
      </p:grpSp>
      <p:sp>
        <p:nvSpPr>
          <p:cNvPr id="6" name="TextBox 6"/>
          <p:cNvSpPr txBox="1"/>
          <p:nvPr/>
        </p:nvSpPr>
        <p:spPr>
          <a:xfrm>
            <a:off x="992238" y="1020365"/>
            <a:ext cx="16303526" cy="693738"/>
          </a:xfrm>
          <a:prstGeom prst="rect">
            <a:avLst/>
          </a:prstGeom>
        </p:spPr>
        <p:txBody>
          <a:bodyPr lIns="0" tIns="0" rIns="0" bIns="0" rtlCol="0" anchor="t">
            <a:spAutoFit/>
          </a:bodyPr>
          <a:lstStyle/>
          <a:p>
            <a:pPr algn="l">
              <a:lnSpc>
                <a:spcPts val="5562"/>
              </a:lnSpc>
            </a:pPr>
            <a:r>
              <a:rPr lang="en-US" sz="4437">
                <a:solidFill>
                  <a:srgbClr val="161613"/>
                </a:solidFill>
                <a:latin typeface="DM Sans"/>
                <a:ea typeface="DM Sans"/>
                <a:cs typeface="DM Sans"/>
                <a:sym typeface="DM Sans"/>
              </a:rPr>
              <a:t>Powering the Platform: The MERN Stack Advantage</a:t>
            </a:r>
          </a:p>
        </p:txBody>
      </p:sp>
      <p:sp>
        <p:nvSpPr>
          <p:cNvPr id="7" name="TextBox 7"/>
          <p:cNvSpPr txBox="1"/>
          <p:nvPr/>
        </p:nvSpPr>
        <p:spPr>
          <a:xfrm>
            <a:off x="992238" y="2229445"/>
            <a:ext cx="16303526" cy="992981"/>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Our Placement Management System leverages the robust MERN stack, a powerful combination of technologies known for its efficiency and scalability.</a:t>
            </a:r>
          </a:p>
        </p:txBody>
      </p:sp>
      <p:sp>
        <p:nvSpPr>
          <p:cNvPr id="8" name="TextBox 8"/>
          <p:cNvSpPr txBox="1"/>
          <p:nvPr/>
        </p:nvSpPr>
        <p:spPr>
          <a:xfrm>
            <a:off x="2321570" y="3978474"/>
            <a:ext cx="3544044" cy="452437"/>
          </a:xfrm>
          <a:prstGeom prst="rect">
            <a:avLst/>
          </a:prstGeom>
        </p:spPr>
        <p:txBody>
          <a:bodyPr lIns="0" tIns="0" rIns="0" bIns="0" rtlCol="0" anchor="t">
            <a:spAutoFit/>
          </a:bodyPr>
          <a:lstStyle/>
          <a:p>
            <a:pPr algn="r">
              <a:lnSpc>
                <a:spcPts val="3437"/>
              </a:lnSpc>
            </a:pPr>
            <a:r>
              <a:rPr lang="en-US" sz="2750">
                <a:solidFill>
                  <a:srgbClr val="161613"/>
                </a:solidFill>
                <a:latin typeface="DM Sans"/>
                <a:ea typeface="DM Sans"/>
                <a:cs typeface="DM Sans"/>
                <a:sym typeface="DM Sans"/>
              </a:rPr>
              <a:t>React.js</a:t>
            </a:r>
          </a:p>
        </p:txBody>
      </p:sp>
      <p:sp>
        <p:nvSpPr>
          <p:cNvPr id="9" name="TextBox 9"/>
          <p:cNvSpPr txBox="1"/>
          <p:nvPr/>
        </p:nvSpPr>
        <p:spPr>
          <a:xfrm>
            <a:off x="992238" y="4515296"/>
            <a:ext cx="4873378" cy="1446610"/>
          </a:xfrm>
          <a:prstGeom prst="rect">
            <a:avLst/>
          </a:prstGeom>
        </p:spPr>
        <p:txBody>
          <a:bodyPr lIns="0" tIns="0" rIns="0" bIns="0" rtlCol="0" anchor="t">
            <a:spAutoFit/>
          </a:bodyPr>
          <a:lstStyle/>
          <a:p>
            <a:pPr algn="r">
              <a:lnSpc>
                <a:spcPts val="3562"/>
              </a:lnSpc>
            </a:pPr>
            <a:r>
              <a:rPr lang="en-US" sz="2187">
                <a:solidFill>
                  <a:srgbClr val="161613"/>
                </a:solidFill>
                <a:latin typeface="Inter"/>
                <a:ea typeface="Inter"/>
                <a:cs typeface="Inter"/>
                <a:sym typeface="Inter"/>
              </a:rPr>
              <a:t>Dynamic and interactive user interfaces for an intuitive experience.</a:t>
            </a:r>
          </a:p>
        </p:txBody>
      </p:sp>
      <p:grpSp>
        <p:nvGrpSpPr>
          <p:cNvPr id="10" name="Group 10"/>
          <p:cNvGrpSpPr>
            <a:grpSpLocks noChangeAspect="1"/>
          </p:cNvGrpSpPr>
          <p:nvPr/>
        </p:nvGrpSpPr>
        <p:grpSpPr>
          <a:xfrm>
            <a:off x="6290816" y="3541365"/>
            <a:ext cx="5706219" cy="5706219"/>
            <a:chOff x="0" y="0"/>
            <a:chExt cx="7608292" cy="7608292"/>
          </a:xfrm>
        </p:grpSpPr>
        <p:sp>
          <p:nvSpPr>
            <p:cNvPr id="11" name="Freeform 11"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3"/>
              <a:stretch>
                <a:fillRect/>
              </a:stretch>
            </a:blipFill>
          </p:spPr>
        </p:sp>
      </p:grpSp>
      <p:sp>
        <p:nvSpPr>
          <p:cNvPr id="12" name="Freeform 12" descr="preencoded.png"/>
          <p:cNvSpPr/>
          <p:nvPr/>
        </p:nvSpPr>
        <p:spPr>
          <a:xfrm>
            <a:off x="7783414" y="4548187"/>
            <a:ext cx="424160" cy="424160"/>
          </a:xfrm>
          <a:custGeom>
            <a:avLst/>
            <a:gdLst/>
            <a:ahLst/>
            <a:cxnLst/>
            <a:rect l="l" t="t" r="r" b="b"/>
            <a:pathLst>
              <a:path w="424160" h="424160">
                <a:moveTo>
                  <a:pt x="0" y="0"/>
                </a:moveTo>
                <a:lnTo>
                  <a:pt x="424160" y="0"/>
                </a:lnTo>
                <a:lnTo>
                  <a:pt x="424160" y="424160"/>
                </a:lnTo>
                <a:lnTo>
                  <a:pt x="0" y="424160"/>
                </a:lnTo>
                <a:lnTo>
                  <a:pt x="0" y="0"/>
                </a:lnTo>
                <a:close/>
              </a:path>
            </a:pathLst>
          </a:custGeom>
          <a:blipFill>
            <a:blip r:embed="rId4">
              <a:extLst>
                <a:ext uri="{96DAC541-7B7A-43D3-8B79-37D633B846F1}">
                  <asvg:svgBlip xmlns:asvg="http://schemas.microsoft.com/office/drawing/2016/SVG/main" r:embed="rId5"/>
                </a:ext>
              </a:extLst>
            </a:blip>
            <a:stretch>
              <a:fillRect t="-19999" b="-19999"/>
            </a:stretch>
          </a:blipFill>
        </p:spPr>
      </p:sp>
      <p:sp>
        <p:nvSpPr>
          <p:cNvPr id="13" name="TextBox 13"/>
          <p:cNvSpPr txBox="1"/>
          <p:nvPr/>
        </p:nvSpPr>
        <p:spPr>
          <a:xfrm>
            <a:off x="12422237" y="3978474"/>
            <a:ext cx="3544044" cy="452437"/>
          </a:xfrm>
          <a:prstGeom prst="rect">
            <a:avLst/>
          </a:prstGeom>
        </p:spPr>
        <p:txBody>
          <a:bodyPr lIns="0" tIns="0" rIns="0" bIns="0" rtlCol="0" anchor="t">
            <a:spAutoFit/>
          </a:bodyPr>
          <a:lstStyle/>
          <a:p>
            <a:pPr algn="l">
              <a:lnSpc>
                <a:spcPts val="3437"/>
              </a:lnSpc>
            </a:pPr>
            <a:r>
              <a:rPr lang="en-US" sz="2750">
                <a:solidFill>
                  <a:srgbClr val="161613"/>
                </a:solidFill>
                <a:latin typeface="DM Sans"/>
                <a:ea typeface="DM Sans"/>
                <a:cs typeface="DM Sans"/>
                <a:sym typeface="DM Sans"/>
              </a:rPr>
              <a:t>Express.js</a:t>
            </a:r>
          </a:p>
        </p:txBody>
      </p:sp>
      <p:sp>
        <p:nvSpPr>
          <p:cNvPr id="14" name="TextBox 14"/>
          <p:cNvSpPr txBox="1"/>
          <p:nvPr/>
        </p:nvSpPr>
        <p:spPr>
          <a:xfrm>
            <a:off x="12422237" y="4515296"/>
            <a:ext cx="4873526" cy="1446610"/>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Fast and unopinionated web framework for backend development.</a:t>
            </a:r>
          </a:p>
        </p:txBody>
      </p:sp>
      <p:grpSp>
        <p:nvGrpSpPr>
          <p:cNvPr id="15" name="Group 15"/>
          <p:cNvGrpSpPr>
            <a:grpSpLocks noChangeAspect="1"/>
          </p:cNvGrpSpPr>
          <p:nvPr/>
        </p:nvGrpSpPr>
        <p:grpSpPr>
          <a:xfrm>
            <a:off x="6290816" y="3541365"/>
            <a:ext cx="5706219" cy="5706219"/>
            <a:chOff x="0" y="0"/>
            <a:chExt cx="7608292" cy="7608292"/>
          </a:xfrm>
        </p:grpSpPr>
        <p:sp>
          <p:nvSpPr>
            <p:cNvPr id="16" name="Freeform 16"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6"/>
              <a:stretch>
                <a:fillRect/>
              </a:stretch>
            </a:blipFill>
          </p:spPr>
        </p:sp>
      </p:grpSp>
      <p:sp>
        <p:nvSpPr>
          <p:cNvPr id="17" name="Freeform 17" descr="preencoded.png"/>
          <p:cNvSpPr/>
          <p:nvPr/>
        </p:nvSpPr>
        <p:spPr>
          <a:xfrm>
            <a:off x="10565755" y="5033814"/>
            <a:ext cx="424160" cy="424160"/>
          </a:xfrm>
          <a:custGeom>
            <a:avLst/>
            <a:gdLst/>
            <a:ahLst/>
            <a:cxnLst/>
            <a:rect l="l" t="t" r="r" b="b"/>
            <a:pathLst>
              <a:path w="424160" h="424160">
                <a:moveTo>
                  <a:pt x="0" y="0"/>
                </a:moveTo>
                <a:lnTo>
                  <a:pt x="424160" y="0"/>
                </a:lnTo>
                <a:lnTo>
                  <a:pt x="424160" y="424160"/>
                </a:lnTo>
                <a:lnTo>
                  <a:pt x="0" y="424160"/>
                </a:lnTo>
                <a:lnTo>
                  <a:pt x="0" y="0"/>
                </a:lnTo>
                <a:close/>
              </a:path>
            </a:pathLst>
          </a:custGeom>
          <a:blipFill>
            <a:blip r:embed="rId7">
              <a:extLst>
                <a:ext uri="{96DAC541-7B7A-43D3-8B79-37D633B846F1}">
                  <asvg:svgBlip xmlns:asvg="http://schemas.microsoft.com/office/drawing/2016/SVG/main" r:embed="rId8"/>
                </a:ext>
              </a:extLst>
            </a:blip>
            <a:stretch>
              <a:fillRect t="-4444" b="-4444"/>
            </a:stretch>
          </a:blipFill>
        </p:spPr>
      </p:sp>
      <p:sp>
        <p:nvSpPr>
          <p:cNvPr id="18" name="TextBox 18"/>
          <p:cNvSpPr txBox="1"/>
          <p:nvPr/>
        </p:nvSpPr>
        <p:spPr>
          <a:xfrm>
            <a:off x="12422237" y="7270997"/>
            <a:ext cx="3544044" cy="452437"/>
          </a:xfrm>
          <a:prstGeom prst="rect">
            <a:avLst/>
          </a:prstGeom>
        </p:spPr>
        <p:txBody>
          <a:bodyPr lIns="0" tIns="0" rIns="0" bIns="0" rtlCol="0" anchor="t">
            <a:spAutoFit/>
          </a:bodyPr>
          <a:lstStyle/>
          <a:p>
            <a:pPr algn="l">
              <a:lnSpc>
                <a:spcPts val="3437"/>
              </a:lnSpc>
            </a:pPr>
            <a:r>
              <a:rPr lang="en-US" sz="2750">
                <a:solidFill>
                  <a:srgbClr val="161613"/>
                </a:solidFill>
                <a:latin typeface="DM Sans"/>
                <a:ea typeface="DM Sans"/>
                <a:cs typeface="DM Sans"/>
                <a:sym typeface="DM Sans"/>
              </a:rPr>
              <a:t>MongoDB</a:t>
            </a:r>
          </a:p>
        </p:txBody>
      </p:sp>
      <p:sp>
        <p:nvSpPr>
          <p:cNvPr id="19" name="TextBox 19"/>
          <p:cNvSpPr txBox="1"/>
          <p:nvPr/>
        </p:nvSpPr>
        <p:spPr>
          <a:xfrm>
            <a:off x="12422237" y="7807821"/>
            <a:ext cx="4873526" cy="992981"/>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Flexible, scalable NoSQL database for efficient data storage.</a:t>
            </a:r>
          </a:p>
        </p:txBody>
      </p:sp>
      <p:grpSp>
        <p:nvGrpSpPr>
          <p:cNvPr id="20" name="Group 20"/>
          <p:cNvGrpSpPr>
            <a:grpSpLocks noChangeAspect="1"/>
          </p:cNvGrpSpPr>
          <p:nvPr/>
        </p:nvGrpSpPr>
        <p:grpSpPr>
          <a:xfrm>
            <a:off x="6290816" y="3541365"/>
            <a:ext cx="5706219" cy="5706219"/>
            <a:chOff x="0" y="0"/>
            <a:chExt cx="7608292" cy="7608292"/>
          </a:xfrm>
        </p:grpSpPr>
        <p:sp>
          <p:nvSpPr>
            <p:cNvPr id="21" name="Freeform 21"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9"/>
              <a:stretch>
                <a:fillRect/>
              </a:stretch>
            </a:blipFill>
          </p:spPr>
        </p:sp>
      </p:grpSp>
      <p:sp>
        <p:nvSpPr>
          <p:cNvPr id="22" name="Freeform 22" descr="preencoded.png"/>
          <p:cNvSpPr/>
          <p:nvPr/>
        </p:nvSpPr>
        <p:spPr>
          <a:xfrm>
            <a:off x="10080129" y="7816155"/>
            <a:ext cx="424160" cy="424160"/>
          </a:xfrm>
          <a:custGeom>
            <a:avLst/>
            <a:gdLst/>
            <a:ahLst/>
            <a:cxnLst/>
            <a:rect l="l" t="t" r="r" b="b"/>
            <a:pathLst>
              <a:path w="424160" h="424160">
                <a:moveTo>
                  <a:pt x="0" y="0"/>
                </a:moveTo>
                <a:lnTo>
                  <a:pt x="424160" y="0"/>
                </a:lnTo>
                <a:lnTo>
                  <a:pt x="424160" y="424160"/>
                </a:lnTo>
                <a:lnTo>
                  <a:pt x="0" y="424160"/>
                </a:lnTo>
                <a:lnTo>
                  <a:pt x="0" y="0"/>
                </a:lnTo>
                <a:close/>
              </a:path>
            </a:pathLst>
          </a:custGeom>
          <a:blipFill>
            <a:blip r:embed="rId10">
              <a:extLst>
                <a:ext uri="{96DAC541-7B7A-43D3-8B79-37D633B846F1}">
                  <asvg:svgBlip xmlns:asvg="http://schemas.microsoft.com/office/drawing/2016/SVG/main" r:embed="rId11"/>
                </a:ext>
              </a:extLst>
            </a:blip>
            <a:stretch>
              <a:fillRect t="-1111" b="-1111"/>
            </a:stretch>
          </a:blipFill>
        </p:spPr>
      </p:sp>
      <p:sp>
        <p:nvSpPr>
          <p:cNvPr id="23" name="TextBox 23"/>
          <p:cNvSpPr txBox="1"/>
          <p:nvPr/>
        </p:nvSpPr>
        <p:spPr>
          <a:xfrm>
            <a:off x="2321570" y="7270997"/>
            <a:ext cx="3544044" cy="452437"/>
          </a:xfrm>
          <a:prstGeom prst="rect">
            <a:avLst/>
          </a:prstGeom>
        </p:spPr>
        <p:txBody>
          <a:bodyPr lIns="0" tIns="0" rIns="0" bIns="0" rtlCol="0" anchor="t">
            <a:spAutoFit/>
          </a:bodyPr>
          <a:lstStyle/>
          <a:p>
            <a:pPr algn="r">
              <a:lnSpc>
                <a:spcPts val="3437"/>
              </a:lnSpc>
            </a:pPr>
            <a:r>
              <a:rPr lang="en-US" sz="2750">
                <a:solidFill>
                  <a:srgbClr val="161613"/>
                </a:solidFill>
                <a:latin typeface="DM Sans"/>
                <a:ea typeface="DM Sans"/>
                <a:cs typeface="DM Sans"/>
                <a:sym typeface="DM Sans"/>
              </a:rPr>
              <a:t>Node.js</a:t>
            </a:r>
          </a:p>
        </p:txBody>
      </p:sp>
      <p:sp>
        <p:nvSpPr>
          <p:cNvPr id="24" name="TextBox 24"/>
          <p:cNvSpPr txBox="1"/>
          <p:nvPr/>
        </p:nvSpPr>
        <p:spPr>
          <a:xfrm>
            <a:off x="992238" y="7807821"/>
            <a:ext cx="4873378" cy="992981"/>
          </a:xfrm>
          <a:prstGeom prst="rect">
            <a:avLst/>
          </a:prstGeom>
        </p:spPr>
        <p:txBody>
          <a:bodyPr lIns="0" tIns="0" rIns="0" bIns="0" rtlCol="0" anchor="t">
            <a:spAutoFit/>
          </a:bodyPr>
          <a:lstStyle/>
          <a:p>
            <a:pPr algn="r">
              <a:lnSpc>
                <a:spcPts val="3562"/>
              </a:lnSpc>
            </a:pPr>
            <a:r>
              <a:rPr lang="en-US" sz="2187">
                <a:solidFill>
                  <a:srgbClr val="161613"/>
                </a:solidFill>
                <a:latin typeface="Inter"/>
                <a:ea typeface="Inter"/>
                <a:cs typeface="Inter"/>
                <a:sym typeface="Inter"/>
              </a:rPr>
              <a:t>High-performance JavaScript runtime for server-side operations.</a:t>
            </a:r>
          </a:p>
        </p:txBody>
      </p:sp>
      <p:grpSp>
        <p:nvGrpSpPr>
          <p:cNvPr id="25" name="Group 25"/>
          <p:cNvGrpSpPr>
            <a:grpSpLocks noChangeAspect="1"/>
          </p:cNvGrpSpPr>
          <p:nvPr/>
        </p:nvGrpSpPr>
        <p:grpSpPr>
          <a:xfrm>
            <a:off x="6290816" y="3541365"/>
            <a:ext cx="5706219" cy="5706219"/>
            <a:chOff x="0" y="0"/>
            <a:chExt cx="7608292" cy="7608292"/>
          </a:xfrm>
        </p:grpSpPr>
        <p:sp>
          <p:nvSpPr>
            <p:cNvPr id="26" name="Freeform 26" descr="preencoded.png"/>
            <p:cNvSpPr/>
            <p:nvPr/>
          </p:nvSpPr>
          <p:spPr>
            <a:xfrm>
              <a:off x="0" y="0"/>
              <a:ext cx="7608316" cy="7608316"/>
            </a:xfrm>
            <a:custGeom>
              <a:avLst/>
              <a:gdLst/>
              <a:ahLst/>
              <a:cxnLst/>
              <a:rect l="l" t="t" r="r" b="b"/>
              <a:pathLst>
                <a:path w="7608316" h="7608316">
                  <a:moveTo>
                    <a:pt x="0" y="0"/>
                  </a:moveTo>
                  <a:lnTo>
                    <a:pt x="7608316" y="0"/>
                  </a:lnTo>
                  <a:lnTo>
                    <a:pt x="7608316" y="7608316"/>
                  </a:lnTo>
                  <a:lnTo>
                    <a:pt x="0" y="7608316"/>
                  </a:lnTo>
                  <a:lnTo>
                    <a:pt x="0" y="0"/>
                  </a:lnTo>
                  <a:close/>
                </a:path>
              </a:pathLst>
            </a:custGeom>
            <a:blipFill>
              <a:blip r:embed="rId12"/>
              <a:stretch>
                <a:fillRect/>
              </a:stretch>
            </a:blipFill>
          </p:spPr>
        </p:sp>
      </p:grpSp>
      <p:sp>
        <p:nvSpPr>
          <p:cNvPr id="27" name="Freeform 27" descr="preencoded.png"/>
          <p:cNvSpPr/>
          <p:nvPr/>
        </p:nvSpPr>
        <p:spPr>
          <a:xfrm>
            <a:off x="7297788" y="7330529"/>
            <a:ext cx="424160" cy="424160"/>
          </a:xfrm>
          <a:custGeom>
            <a:avLst/>
            <a:gdLst/>
            <a:ahLst/>
            <a:cxnLst/>
            <a:rect l="l" t="t" r="r" b="b"/>
            <a:pathLst>
              <a:path w="424160" h="424160">
                <a:moveTo>
                  <a:pt x="0" y="0"/>
                </a:moveTo>
                <a:lnTo>
                  <a:pt x="424159" y="0"/>
                </a:lnTo>
                <a:lnTo>
                  <a:pt x="424159" y="424160"/>
                </a:lnTo>
                <a:lnTo>
                  <a:pt x="0" y="424160"/>
                </a:lnTo>
                <a:lnTo>
                  <a:pt x="0" y="0"/>
                </a:lnTo>
                <a:close/>
              </a:path>
            </a:pathLst>
          </a:custGeom>
          <a:blipFill>
            <a:blip r:embed="rId13">
              <a:extLst>
                <a:ext uri="{96DAC541-7B7A-43D3-8B79-37D633B846F1}">
                  <asvg:svgBlip xmlns:asvg="http://schemas.microsoft.com/office/drawing/2016/SVG/main" r:embed="rId14"/>
                </a:ext>
              </a:extLst>
            </a:blip>
            <a:stretch>
              <a:fillRect t="-11111" b="-11111"/>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a:ln w="12700">
              <a:solidFill>
                <a:srgbClr val="000000"/>
              </a:solidFill>
            </a:ln>
          </p:spPr>
        </p:sp>
      </p:grpSp>
      <p:sp>
        <p:nvSpPr>
          <p:cNvPr id="6" name="TextBox 6"/>
          <p:cNvSpPr txBox="1"/>
          <p:nvPr/>
        </p:nvSpPr>
        <p:spPr>
          <a:xfrm>
            <a:off x="992238" y="2112317"/>
            <a:ext cx="12410107" cy="693738"/>
          </a:xfrm>
          <a:prstGeom prst="rect">
            <a:avLst/>
          </a:prstGeom>
        </p:spPr>
        <p:txBody>
          <a:bodyPr lIns="0" tIns="0" rIns="0" bIns="0" rtlCol="0" anchor="t">
            <a:spAutoFit/>
          </a:bodyPr>
          <a:lstStyle/>
          <a:p>
            <a:pPr algn="l">
              <a:lnSpc>
                <a:spcPts val="5562"/>
              </a:lnSpc>
            </a:pPr>
            <a:r>
              <a:rPr lang="en-US" sz="4437">
                <a:solidFill>
                  <a:srgbClr val="161613"/>
                </a:solidFill>
                <a:latin typeface="DM Sans"/>
                <a:ea typeface="DM Sans"/>
                <a:cs typeface="DM Sans"/>
                <a:sym typeface="DM Sans"/>
              </a:rPr>
              <a:t>Frontend Excellence: Vite + React.js</a:t>
            </a:r>
          </a:p>
        </p:txBody>
      </p:sp>
      <p:grpSp>
        <p:nvGrpSpPr>
          <p:cNvPr id="7" name="Group 7"/>
          <p:cNvGrpSpPr>
            <a:grpSpLocks noChangeAspect="1"/>
          </p:cNvGrpSpPr>
          <p:nvPr/>
        </p:nvGrpSpPr>
        <p:grpSpPr>
          <a:xfrm>
            <a:off x="992238" y="3584227"/>
            <a:ext cx="5103614" cy="2835325"/>
            <a:chOff x="0" y="0"/>
            <a:chExt cx="6804818" cy="3780433"/>
          </a:xfrm>
        </p:grpSpPr>
        <p:sp>
          <p:nvSpPr>
            <p:cNvPr id="8" name="Freeform 8" descr="preencoded.png"/>
            <p:cNvSpPr/>
            <p:nvPr/>
          </p:nvSpPr>
          <p:spPr>
            <a:xfrm>
              <a:off x="0" y="0"/>
              <a:ext cx="6804787" cy="3780409"/>
            </a:xfrm>
            <a:custGeom>
              <a:avLst/>
              <a:gdLst/>
              <a:ahLst/>
              <a:cxnLst/>
              <a:rect l="l" t="t" r="r" b="b"/>
              <a:pathLst>
                <a:path w="6804787" h="3780409">
                  <a:moveTo>
                    <a:pt x="0" y="0"/>
                  </a:moveTo>
                  <a:lnTo>
                    <a:pt x="6804787" y="0"/>
                  </a:lnTo>
                  <a:lnTo>
                    <a:pt x="6804787" y="3780409"/>
                  </a:lnTo>
                  <a:lnTo>
                    <a:pt x="0" y="3780409"/>
                  </a:lnTo>
                  <a:lnTo>
                    <a:pt x="0" y="0"/>
                  </a:lnTo>
                  <a:close/>
                </a:path>
              </a:pathLst>
            </a:custGeom>
            <a:blipFill>
              <a:blip r:embed="rId3"/>
              <a:stretch>
                <a:fillRect t="-37" b="-38"/>
              </a:stretch>
            </a:blipFill>
          </p:spPr>
        </p:sp>
      </p:grpSp>
      <p:sp>
        <p:nvSpPr>
          <p:cNvPr id="9" name="TextBox 9"/>
          <p:cNvSpPr txBox="1"/>
          <p:nvPr/>
        </p:nvSpPr>
        <p:spPr>
          <a:xfrm>
            <a:off x="9499401" y="3434655"/>
            <a:ext cx="7805886" cy="1446610"/>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The frontend of our PMS is built using </a:t>
            </a:r>
            <a:r>
              <a:rPr lang="en-US" sz="2187" b="1">
                <a:solidFill>
                  <a:srgbClr val="161613"/>
                </a:solidFill>
                <a:latin typeface="Inter Bold"/>
                <a:ea typeface="Inter Bold"/>
                <a:cs typeface="Inter Bold"/>
                <a:sym typeface="Inter Bold"/>
              </a:rPr>
              <a:t>Vite</a:t>
            </a:r>
            <a:r>
              <a:rPr lang="en-US" sz="2187">
                <a:solidFill>
                  <a:srgbClr val="161613"/>
                </a:solidFill>
                <a:latin typeface="Inter"/>
                <a:ea typeface="Inter"/>
                <a:cs typeface="Inter"/>
                <a:sym typeface="Inter"/>
              </a:rPr>
              <a:t> and </a:t>
            </a:r>
            <a:r>
              <a:rPr lang="en-US" sz="2187" b="1">
                <a:solidFill>
                  <a:srgbClr val="161613"/>
                </a:solidFill>
                <a:latin typeface="Inter Bold"/>
                <a:ea typeface="Inter Bold"/>
                <a:cs typeface="Inter Bold"/>
                <a:sym typeface="Inter Bold"/>
              </a:rPr>
              <a:t>React.js</a:t>
            </a:r>
            <a:r>
              <a:rPr lang="en-US" sz="2187">
                <a:solidFill>
                  <a:srgbClr val="161613"/>
                </a:solidFill>
                <a:latin typeface="Inter"/>
                <a:ea typeface="Inter"/>
                <a:cs typeface="Inter"/>
                <a:sym typeface="Inter"/>
              </a:rPr>
              <a:t>, ensuring a fast, responsive, and highly engaging user experience.</a:t>
            </a:r>
          </a:p>
        </p:txBody>
      </p:sp>
      <p:sp>
        <p:nvSpPr>
          <p:cNvPr id="10" name="TextBox 10"/>
          <p:cNvSpPr txBox="1"/>
          <p:nvPr/>
        </p:nvSpPr>
        <p:spPr>
          <a:xfrm>
            <a:off x="9499401" y="5050631"/>
            <a:ext cx="7805886" cy="992981"/>
          </a:xfrm>
          <a:prstGeom prst="rect">
            <a:avLst/>
          </a:prstGeom>
        </p:spPr>
        <p:txBody>
          <a:bodyPr lIns="0" tIns="0" rIns="0" bIns="0" rtlCol="0" anchor="t">
            <a:spAutoFit/>
          </a:bodyPr>
          <a:lstStyle/>
          <a:p>
            <a:pPr marL="329902" lvl="1" indent="-164951" algn="l">
              <a:lnSpc>
                <a:spcPts val="3562"/>
              </a:lnSpc>
              <a:buFont typeface="Arial"/>
              <a:buChar char="•"/>
            </a:pPr>
            <a:r>
              <a:rPr lang="en-US" sz="2187" b="1">
                <a:solidFill>
                  <a:srgbClr val="161613"/>
                </a:solidFill>
                <a:latin typeface="Inter Bold"/>
                <a:ea typeface="Inter Bold"/>
                <a:cs typeface="Inter Bold"/>
                <a:sym typeface="Inter Bold"/>
              </a:rPr>
              <a:t>Vite:</a:t>
            </a:r>
            <a:r>
              <a:rPr lang="en-US" sz="2187">
                <a:solidFill>
                  <a:srgbClr val="161613"/>
                </a:solidFill>
                <a:latin typeface="Inter"/>
                <a:ea typeface="Inter"/>
                <a:cs typeface="Inter"/>
                <a:sym typeface="Inter"/>
              </a:rPr>
              <a:t> Provides a lightning-fast development server and optimized build process.</a:t>
            </a:r>
          </a:p>
        </p:txBody>
      </p:sp>
      <p:sp>
        <p:nvSpPr>
          <p:cNvPr id="11" name="TextBox 11"/>
          <p:cNvSpPr txBox="1"/>
          <p:nvPr/>
        </p:nvSpPr>
        <p:spPr>
          <a:xfrm>
            <a:off x="9499401" y="6057007"/>
            <a:ext cx="7805886" cy="992981"/>
          </a:xfrm>
          <a:prstGeom prst="rect">
            <a:avLst/>
          </a:prstGeom>
        </p:spPr>
        <p:txBody>
          <a:bodyPr lIns="0" tIns="0" rIns="0" bIns="0" rtlCol="0" anchor="t">
            <a:spAutoFit/>
          </a:bodyPr>
          <a:lstStyle/>
          <a:p>
            <a:pPr marL="329902" lvl="1" indent="-164951" algn="l">
              <a:lnSpc>
                <a:spcPts val="3562"/>
              </a:lnSpc>
              <a:buFont typeface="Arial"/>
              <a:buChar char="•"/>
            </a:pPr>
            <a:r>
              <a:rPr lang="en-US" sz="2187" b="1">
                <a:solidFill>
                  <a:srgbClr val="161613"/>
                </a:solidFill>
                <a:latin typeface="Inter Bold"/>
                <a:ea typeface="Inter Bold"/>
                <a:cs typeface="Inter Bold"/>
                <a:sym typeface="Inter Bold"/>
              </a:rPr>
              <a:t>React.js:</a:t>
            </a:r>
            <a:r>
              <a:rPr lang="en-US" sz="2187">
                <a:solidFill>
                  <a:srgbClr val="161613"/>
                </a:solidFill>
                <a:latin typeface="Inter"/>
                <a:ea typeface="Inter"/>
                <a:cs typeface="Inter"/>
                <a:sym typeface="Inter"/>
              </a:rPr>
              <a:t> Enables creation of complex, interactive UIs with reusable components.</a:t>
            </a:r>
          </a:p>
        </p:txBody>
      </p:sp>
      <p:sp>
        <p:nvSpPr>
          <p:cNvPr id="12" name="TextBox 12"/>
          <p:cNvSpPr txBox="1"/>
          <p:nvPr/>
        </p:nvSpPr>
        <p:spPr>
          <a:xfrm>
            <a:off x="9499401" y="7063383"/>
            <a:ext cx="7805886" cy="992981"/>
          </a:xfrm>
          <a:prstGeom prst="rect">
            <a:avLst/>
          </a:prstGeom>
        </p:spPr>
        <p:txBody>
          <a:bodyPr lIns="0" tIns="0" rIns="0" bIns="0" rtlCol="0" anchor="t">
            <a:spAutoFit/>
          </a:bodyPr>
          <a:lstStyle/>
          <a:p>
            <a:pPr marL="329902" lvl="1" indent="-164951" algn="l">
              <a:lnSpc>
                <a:spcPts val="3562"/>
              </a:lnSpc>
              <a:buFont typeface="Arial"/>
              <a:buChar char="•"/>
            </a:pPr>
            <a:r>
              <a:rPr lang="en-US" sz="2187" b="1">
                <a:solidFill>
                  <a:srgbClr val="161613"/>
                </a:solidFill>
                <a:latin typeface="Inter Bold"/>
                <a:ea typeface="Inter Bold"/>
                <a:cs typeface="Inter Bold"/>
                <a:sym typeface="Inter Bold"/>
              </a:rPr>
              <a:t>Tailwind CSS:</a:t>
            </a:r>
            <a:r>
              <a:rPr lang="en-US" sz="2187">
                <a:solidFill>
                  <a:srgbClr val="161613"/>
                </a:solidFill>
                <a:latin typeface="Inter"/>
                <a:ea typeface="Inter"/>
                <a:cs typeface="Inter"/>
                <a:sym typeface="Inter"/>
              </a:rPr>
              <a:t> For sleek, modern, and fully responsive design across all devices.</a:t>
            </a:r>
          </a:p>
        </p:txBody>
      </p:sp>
      <p:pic>
        <p:nvPicPr>
          <p:cNvPr id="14" name="Picture 13">
            <a:extLst>
              <a:ext uri="{FF2B5EF4-FFF2-40B4-BE49-F238E27FC236}">
                <a16:creationId xmlns:a16="http://schemas.microsoft.com/office/drawing/2014/main" id="{29ADBF8E-8F54-EC5D-2DE8-E1F55812F1DD}"/>
              </a:ext>
            </a:extLst>
          </p:cNvPr>
          <p:cNvPicPr>
            <a:picLocks noChangeAspect="1"/>
          </p:cNvPicPr>
          <p:nvPr/>
        </p:nvPicPr>
        <p:blipFill>
          <a:blip r:embed="rId4"/>
          <a:stretch>
            <a:fillRect/>
          </a:stretch>
        </p:blipFill>
        <p:spPr>
          <a:xfrm>
            <a:off x="982713" y="3584226"/>
            <a:ext cx="6332487" cy="422627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a:ln w="12700">
              <a:solidFill>
                <a:srgbClr val="000000"/>
              </a:solidFill>
            </a:ln>
          </p:spPr>
        </p:sp>
      </p:grpSp>
      <p:grpSp>
        <p:nvGrpSpPr>
          <p:cNvPr id="6" name="Group 6"/>
          <p:cNvGrpSpPr/>
          <p:nvPr/>
        </p:nvGrpSpPr>
        <p:grpSpPr>
          <a:xfrm>
            <a:off x="0" y="0"/>
            <a:ext cx="6858000" cy="10287000"/>
            <a:chOff x="0" y="0"/>
            <a:chExt cx="9144000" cy="13716000"/>
          </a:xfrm>
        </p:grpSpPr>
        <p:sp>
          <p:nvSpPr>
            <p:cNvPr id="7" name="Freeform 7"/>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close/>
                </a:path>
              </a:pathLst>
            </a:custGeom>
            <a:solidFill>
              <a:srgbClr val="DFDFE0"/>
            </a:solidFill>
            <a:ln w="12700">
              <a:solidFill>
                <a:srgbClr val="000000"/>
              </a:solidFill>
            </a:ln>
          </p:spPr>
        </p:sp>
      </p:grpSp>
      <p:grpSp>
        <p:nvGrpSpPr>
          <p:cNvPr id="8" name="Group 8"/>
          <p:cNvGrpSpPr>
            <a:grpSpLocks noChangeAspect="1"/>
          </p:cNvGrpSpPr>
          <p:nvPr/>
        </p:nvGrpSpPr>
        <p:grpSpPr>
          <a:xfrm>
            <a:off x="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10" name="TextBox 10"/>
          <p:cNvSpPr txBox="1"/>
          <p:nvPr/>
        </p:nvSpPr>
        <p:spPr>
          <a:xfrm>
            <a:off x="7757071" y="677764"/>
            <a:ext cx="9631859" cy="1312961"/>
          </a:xfrm>
          <a:prstGeom prst="rect">
            <a:avLst/>
          </a:prstGeom>
        </p:spPr>
        <p:txBody>
          <a:bodyPr lIns="0" tIns="0" rIns="0" bIns="0" rtlCol="0" anchor="t">
            <a:spAutoFit/>
          </a:bodyPr>
          <a:lstStyle/>
          <a:p>
            <a:pPr algn="l">
              <a:lnSpc>
                <a:spcPts val="5000"/>
              </a:lnSpc>
            </a:pPr>
            <a:r>
              <a:rPr lang="en-US" sz="4000">
                <a:solidFill>
                  <a:srgbClr val="161613"/>
                </a:solidFill>
                <a:latin typeface="DM Sans"/>
                <a:ea typeface="DM Sans"/>
                <a:cs typeface="DM Sans"/>
                <a:sym typeface="DM Sans"/>
              </a:rPr>
              <a:t>Robust Backend &amp; Database Management</a:t>
            </a:r>
          </a:p>
        </p:txBody>
      </p:sp>
      <p:sp>
        <p:nvSpPr>
          <p:cNvPr id="11" name="TextBox 11"/>
          <p:cNvSpPr txBox="1"/>
          <p:nvPr/>
        </p:nvSpPr>
        <p:spPr>
          <a:xfrm>
            <a:off x="7757071" y="2299841"/>
            <a:ext cx="9631859" cy="898029"/>
          </a:xfrm>
          <a:prstGeom prst="rect">
            <a:avLst/>
          </a:prstGeom>
        </p:spPr>
        <p:txBody>
          <a:bodyPr lIns="0" tIns="0" rIns="0" bIns="0" rtlCol="0" anchor="t">
            <a:spAutoFit/>
          </a:bodyPr>
          <a:lstStyle/>
          <a:p>
            <a:pPr algn="l">
              <a:lnSpc>
                <a:spcPts val="3187"/>
              </a:lnSpc>
            </a:pPr>
            <a:r>
              <a:rPr lang="en-US" sz="2000" dirty="0">
                <a:solidFill>
                  <a:srgbClr val="161613"/>
                </a:solidFill>
                <a:latin typeface="Inter"/>
                <a:ea typeface="Inter"/>
                <a:cs typeface="Inter"/>
                <a:sym typeface="Inter"/>
              </a:rPr>
              <a:t>The system's backend and database are engineered for performance, security, and scalability.</a:t>
            </a:r>
          </a:p>
        </p:txBody>
      </p:sp>
      <p:grpSp>
        <p:nvGrpSpPr>
          <p:cNvPr id="12" name="Group 12"/>
          <p:cNvGrpSpPr/>
          <p:nvPr/>
        </p:nvGrpSpPr>
        <p:grpSpPr>
          <a:xfrm>
            <a:off x="7757071" y="3486745"/>
            <a:ext cx="9631859" cy="2918520"/>
            <a:chOff x="0" y="0"/>
            <a:chExt cx="12842478" cy="3891360"/>
          </a:xfrm>
        </p:grpSpPr>
        <p:sp>
          <p:nvSpPr>
            <p:cNvPr id="13" name="Freeform 13"/>
            <p:cNvSpPr/>
            <p:nvPr/>
          </p:nvSpPr>
          <p:spPr>
            <a:xfrm>
              <a:off x="0" y="0"/>
              <a:ext cx="12842367" cy="3891280"/>
            </a:xfrm>
            <a:custGeom>
              <a:avLst/>
              <a:gdLst/>
              <a:ahLst/>
              <a:cxnLst/>
              <a:rect l="l" t="t" r="r" b="b"/>
              <a:pathLst>
                <a:path w="12842367" h="3891280">
                  <a:moveTo>
                    <a:pt x="0" y="51308"/>
                  </a:moveTo>
                  <a:cubicBezTo>
                    <a:pt x="0" y="22987"/>
                    <a:pt x="22987" y="0"/>
                    <a:pt x="51308" y="0"/>
                  </a:cubicBezTo>
                  <a:lnTo>
                    <a:pt x="12791059" y="0"/>
                  </a:lnTo>
                  <a:cubicBezTo>
                    <a:pt x="12819380" y="0"/>
                    <a:pt x="12842367" y="22987"/>
                    <a:pt x="12842367" y="51308"/>
                  </a:cubicBezTo>
                  <a:lnTo>
                    <a:pt x="12842367" y="3839972"/>
                  </a:lnTo>
                  <a:cubicBezTo>
                    <a:pt x="12842367" y="3868293"/>
                    <a:pt x="12819380" y="3891280"/>
                    <a:pt x="12791059" y="3891280"/>
                  </a:cubicBezTo>
                  <a:lnTo>
                    <a:pt x="51308" y="3891280"/>
                  </a:lnTo>
                  <a:cubicBezTo>
                    <a:pt x="22987" y="3891280"/>
                    <a:pt x="0" y="3868293"/>
                    <a:pt x="0" y="3839972"/>
                  </a:cubicBezTo>
                  <a:close/>
                </a:path>
              </a:pathLst>
            </a:custGeom>
            <a:solidFill>
              <a:srgbClr val="EDEBE3"/>
            </a:solidFill>
            <a:ln w="12700">
              <a:solidFill>
                <a:srgbClr val="000000"/>
              </a:solidFill>
            </a:ln>
          </p:spPr>
        </p:sp>
      </p:grpSp>
      <p:grpSp>
        <p:nvGrpSpPr>
          <p:cNvPr id="14" name="Group 14"/>
          <p:cNvGrpSpPr/>
          <p:nvPr/>
        </p:nvGrpSpPr>
        <p:grpSpPr>
          <a:xfrm>
            <a:off x="8013947" y="3743622"/>
            <a:ext cx="770633" cy="770632"/>
            <a:chOff x="0" y="0"/>
            <a:chExt cx="1027510" cy="1027510"/>
          </a:xfrm>
        </p:grpSpPr>
        <p:sp>
          <p:nvSpPr>
            <p:cNvPr id="15" name="Freeform 15"/>
            <p:cNvSpPr/>
            <p:nvPr/>
          </p:nvSpPr>
          <p:spPr>
            <a:xfrm>
              <a:off x="0" y="0"/>
              <a:ext cx="1027557" cy="1027557"/>
            </a:xfrm>
            <a:custGeom>
              <a:avLst/>
              <a:gdLst/>
              <a:ahLst/>
              <a:cxnLst/>
              <a:rect l="l" t="t" r="r" b="b"/>
              <a:pathLst>
                <a:path w="1027557" h="1027557">
                  <a:moveTo>
                    <a:pt x="0" y="513715"/>
                  </a:moveTo>
                  <a:cubicBezTo>
                    <a:pt x="0" y="229997"/>
                    <a:pt x="229997" y="0"/>
                    <a:pt x="513715" y="0"/>
                  </a:cubicBezTo>
                  <a:cubicBezTo>
                    <a:pt x="797433" y="0"/>
                    <a:pt x="1027557" y="229997"/>
                    <a:pt x="1027557" y="513715"/>
                  </a:cubicBezTo>
                  <a:cubicBezTo>
                    <a:pt x="1027557" y="797433"/>
                    <a:pt x="797433" y="1027557"/>
                    <a:pt x="513715" y="1027557"/>
                  </a:cubicBezTo>
                  <a:cubicBezTo>
                    <a:pt x="229997" y="1027557"/>
                    <a:pt x="0" y="797433"/>
                    <a:pt x="0" y="513715"/>
                  </a:cubicBezTo>
                  <a:close/>
                </a:path>
              </a:pathLst>
            </a:custGeom>
            <a:solidFill>
              <a:srgbClr val="28282F"/>
            </a:solidFill>
            <a:ln w="12700">
              <a:solidFill>
                <a:srgbClr val="000000"/>
              </a:solidFill>
            </a:ln>
          </p:spPr>
        </p:sp>
      </p:grpSp>
      <p:sp>
        <p:nvSpPr>
          <p:cNvPr id="16" name="Freeform 16" descr="preencoded.png"/>
          <p:cNvSpPr/>
          <p:nvPr/>
        </p:nvSpPr>
        <p:spPr>
          <a:xfrm>
            <a:off x="8225879" y="3955554"/>
            <a:ext cx="346770" cy="346770"/>
          </a:xfrm>
          <a:custGeom>
            <a:avLst/>
            <a:gdLst/>
            <a:ahLst/>
            <a:cxnLst/>
            <a:rect l="l" t="t" r="r" b="b"/>
            <a:pathLst>
              <a:path w="346770" h="346770">
                <a:moveTo>
                  <a:pt x="0" y="0"/>
                </a:moveTo>
                <a:lnTo>
                  <a:pt x="346770" y="0"/>
                </a:lnTo>
                <a:lnTo>
                  <a:pt x="346770" y="346770"/>
                </a:lnTo>
                <a:lnTo>
                  <a:pt x="0" y="346770"/>
                </a:lnTo>
                <a:lnTo>
                  <a:pt x="0" y="0"/>
                </a:lnTo>
                <a:close/>
              </a:path>
            </a:pathLst>
          </a:custGeom>
          <a:blipFill>
            <a:blip r:embed="rId4">
              <a:extLst>
                <a:ext uri="{96DAC541-7B7A-43D3-8B79-37D633B846F1}">
                  <asvg:svgBlip xmlns:asvg="http://schemas.microsoft.com/office/drawing/2016/SVG/main" r:embed="rId5"/>
                </a:ext>
              </a:extLst>
            </a:blip>
            <a:stretch>
              <a:fillRect l="-5405" r="-5405"/>
            </a:stretch>
          </a:blipFill>
        </p:spPr>
      </p:sp>
      <p:sp>
        <p:nvSpPr>
          <p:cNvPr id="17" name="TextBox 17"/>
          <p:cNvSpPr txBox="1"/>
          <p:nvPr/>
        </p:nvSpPr>
        <p:spPr>
          <a:xfrm>
            <a:off x="8013947" y="4752082"/>
            <a:ext cx="3211116" cy="420440"/>
          </a:xfrm>
          <a:prstGeom prst="rect">
            <a:avLst/>
          </a:prstGeom>
        </p:spPr>
        <p:txBody>
          <a:bodyPr lIns="0" tIns="0" rIns="0" bIns="0" rtlCol="0" anchor="t">
            <a:spAutoFit/>
          </a:bodyPr>
          <a:lstStyle/>
          <a:p>
            <a:pPr algn="l">
              <a:lnSpc>
                <a:spcPts val="3124"/>
              </a:lnSpc>
            </a:pPr>
            <a:r>
              <a:rPr lang="en-US" sz="2499">
                <a:solidFill>
                  <a:srgbClr val="161613"/>
                </a:solidFill>
                <a:latin typeface="DM Sans"/>
                <a:ea typeface="DM Sans"/>
                <a:cs typeface="DM Sans"/>
                <a:sym typeface="DM Sans"/>
              </a:rPr>
              <a:t>Node.js &amp; Express.js</a:t>
            </a:r>
          </a:p>
        </p:txBody>
      </p:sp>
      <p:sp>
        <p:nvSpPr>
          <p:cNvPr id="18" name="TextBox 18"/>
          <p:cNvSpPr txBox="1"/>
          <p:nvPr/>
        </p:nvSpPr>
        <p:spPr>
          <a:xfrm>
            <a:off x="8013947" y="5250359"/>
            <a:ext cx="9118104" cy="898029"/>
          </a:xfrm>
          <a:prstGeom prst="rect">
            <a:avLst/>
          </a:prstGeom>
        </p:spPr>
        <p:txBody>
          <a:bodyPr lIns="0" tIns="0" rIns="0" bIns="0" rtlCol="0" anchor="t">
            <a:spAutoFit/>
          </a:bodyPr>
          <a:lstStyle/>
          <a:p>
            <a:pPr algn="l">
              <a:lnSpc>
                <a:spcPts val="3187"/>
              </a:lnSpc>
            </a:pPr>
            <a:r>
              <a:rPr lang="en-US" sz="2000">
                <a:solidFill>
                  <a:srgbClr val="161613"/>
                </a:solidFill>
                <a:latin typeface="Inter"/>
                <a:ea typeface="Inter"/>
                <a:cs typeface="Inter"/>
                <a:sym typeface="Inter"/>
              </a:rPr>
              <a:t>Powerful server-side development for handling requests efficiently and managing business logic.</a:t>
            </a:r>
          </a:p>
        </p:txBody>
      </p:sp>
      <p:grpSp>
        <p:nvGrpSpPr>
          <p:cNvPr id="19" name="Group 19"/>
          <p:cNvGrpSpPr/>
          <p:nvPr/>
        </p:nvGrpSpPr>
        <p:grpSpPr>
          <a:xfrm>
            <a:off x="7757071" y="6662142"/>
            <a:ext cx="9631859" cy="2918520"/>
            <a:chOff x="0" y="0"/>
            <a:chExt cx="12842478" cy="3891360"/>
          </a:xfrm>
        </p:grpSpPr>
        <p:sp>
          <p:nvSpPr>
            <p:cNvPr id="20" name="Freeform 20"/>
            <p:cNvSpPr/>
            <p:nvPr/>
          </p:nvSpPr>
          <p:spPr>
            <a:xfrm>
              <a:off x="0" y="0"/>
              <a:ext cx="12842367" cy="3891280"/>
            </a:xfrm>
            <a:custGeom>
              <a:avLst/>
              <a:gdLst/>
              <a:ahLst/>
              <a:cxnLst/>
              <a:rect l="l" t="t" r="r" b="b"/>
              <a:pathLst>
                <a:path w="12842367" h="3891280">
                  <a:moveTo>
                    <a:pt x="0" y="51308"/>
                  </a:moveTo>
                  <a:cubicBezTo>
                    <a:pt x="0" y="22987"/>
                    <a:pt x="22987" y="0"/>
                    <a:pt x="51308" y="0"/>
                  </a:cubicBezTo>
                  <a:lnTo>
                    <a:pt x="12791059" y="0"/>
                  </a:lnTo>
                  <a:cubicBezTo>
                    <a:pt x="12819380" y="0"/>
                    <a:pt x="12842367" y="22987"/>
                    <a:pt x="12842367" y="51308"/>
                  </a:cubicBezTo>
                  <a:lnTo>
                    <a:pt x="12842367" y="3839972"/>
                  </a:lnTo>
                  <a:cubicBezTo>
                    <a:pt x="12842367" y="3868293"/>
                    <a:pt x="12819380" y="3891280"/>
                    <a:pt x="12791059" y="3891280"/>
                  </a:cubicBezTo>
                  <a:lnTo>
                    <a:pt x="51308" y="3891280"/>
                  </a:lnTo>
                  <a:cubicBezTo>
                    <a:pt x="22987" y="3891280"/>
                    <a:pt x="0" y="3868293"/>
                    <a:pt x="0" y="3839972"/>
                  </a:cubicBezTo>
                  <a:close/>
                </a:path>
              </a:pathLst>
            </a:custGeom>
            <a:solidFill>
              <a:srgbClr val="EDEBE3"/>
            </a:solidFill>
            <a:ln w="12700">
              <a:solidFill>
                <a:srgbClr val="000000"/>
              </a:solidFill>
            </a:ln>
          </p:spPr>
        </p:sp>
      </p:grpSp>
      <p:grpSp>
        <p:nvGrpSpPr>
          <p:cNvPr id="21" name="Group 21"/>
          <p:cNvGrpSpPr/>
          <p:nvPr/>
        </p:nvGrpSpPr>
        <p:grpSpPr>
          <a:xfrm>
            <a:off x="8013947" y="6919020"/>
            <a:ext cx="770633" cy="770632"/>
            <a:chOff x="0" y="0"/>
            <a:chExt cx="1027510" cy="1027510"/>
          </a:xfrm>
        </p:grpSpPr>
        <p:sp>
          <p:nvSpPr>
            <p:cNvPr id="22" name="Freeform 22"/>
            <p:cNvSpPr/>
            <p:nvPr/>
          </p:nvSpPr>
          <p:spPr>
            <a:xfrm>
              <a:off x="0" y="0"/>
              <a:ext cx="1027557" cy="1027557"/>
            </a:xfrm>
            <a:custGeom>
              <a:avLst/>
              <a:gdLst/>
              <a:ahLst/>
              <a:cxnLst/>
              <a:rect l="l" t="t" r="r" b="b"/>
              <a:pathLst>
                <a:path w="1027557" h="1027557">
                  <a:moveTo>
                    <a:pt x="0" y="513715"/>
                  </a:moveTo>
                  <a:cubicBezTo>
                    <a:pt x="0" y="229997"/>
                    <a:pt x="229997" y="0"/>
                    <a:pt x="513715" y="0"/>
                  </a:cubicBezTo>
                  <a:cubicBezTo>
                    <a:pt x="797433" y="0"/>
                    <a:pt x="1027557" y="229997"/>
                    <a:pt x="1027557" y="513715"/>
                  </a:cubicBezTo>
                  <a:cubicBezTo>
                    <a:pt x="1027557" y="797433"/>
                    <a:pt x="797433" y="1027557"/>
                    <a:pt x="513715" y="1027557"/>
                  </a:cubicBezTo>
                  <a:cubicBezTo>
                    <a:pt x="229997" y="1027557"/>
                    <a:pt x="0" y="797433"/>
                    <a:pt x="0" y="513715"/>
                  </a:cubicBezTo>
                  <a:close/>
                </a:path>
              </a:pathLst>
            </a:custGeom>
            <a:solidFill>
              <a:srgbClr val="28282F"/>
            </a:solidFill>
            <a:ln w="12700">
              <a:solidFill>
                <a:srgbClr val="000000"/>
              </a:solidFill>
            </a:ln>
          </p:spPr>
        </p:sp>
      </p:grpSp>
      <p:sp>
        <p:nvSpPr>
          <p:cNvPr id="23" name="Freeform 23" descr="preencoded.png"/>
          <p:cNvSpPr/>
          <p:nvPr/>
        </p:nvSpPr>
        <p:spPr>
          <a:xfrm>
            <a:off x="8225879" y="7130951"/>
            <a:ext cx="346770" cy="346770"/>
          </a:xfrm>
          <a:custGeom>
            <a:avLst/>
            <a:gdLst/>
            <a:ahLst/>
            <a:cxnLst/>
            <a:rect l="l" t="t" r="r" b="b"/>
            <a:pathLst>
              <a:path w="346770" h="346770">
                <a:moveTo>
                  <a:pt x="0" y="0"/>
                </a:moveTo>
                <a:lnTo>
                  <a:pt x="346770" y="0"/>
                </a:lnTo>
                <a:lnTo>
                  <a:pt x="346770" y="346770"/>
                </a:lnTo>
                <a:lnTo>
                  <a:pt x="0" y="34677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4" name="TextBox 24"/>
          <p:cNvSpPr txBox="1"/>
          <p:nvPr/>
        </p:nvSpPr>
        <p:spPr>
          <a:xfrm>
            <a:off x="8013947" y="7927479"/>
            <a:ext cx="3211116" cy="420440"/>
          </a:xfrm>
          <a:prstGeom prst="rect">
            <a:avLst/>
          </a:prstGeom>
        </p:spPr>
        <p:txBody>
          <a:bodyPr lIns="0" tIns="0" rIns="0" bIns="0" rtlCol="0" anchor="t">
            <a:spAutoFit/>
          </a:bodyPr>
          <a:lstStyle/>
          <a:p>
            <a:pPr algn="l">
              <a:lnSpc>
                <a:spcPts val="3124"/>
              </a:lnSpc>
            </a:pPr>
            <a:r>
              <a:rPr lang="en-US" sz="2499">
                <a:solidFill>
                  <a:srgbClr val="161613"/>
                </a:solidFill>
                <a:latin typeface="DM Sans"/>
                <a:ea typeface="DM Sans"/>
                <a:cs typeface="DM Sans"/>
                <a:sym typeface="DM Sans"/>
              </a:rPr>
              <a:t>MongoDB</a:t>
            </a:r>
          </a:p>
        </p:txBody>
      </p:sp>
      <p:sp>
        <p:nvSpPr>
          <p:cNvPr id="25" name="TextBox 25"/>
          <p:cNvSpPr txBox="1"/>
          <p:nvPr/>
        </p:nvSpPr>
        <p:spPr>
          <a:xfrm>
            <a:off x="8013947" y="8425755"/>
            <a:ext cx="9118104" cy="898029"/>
          </a:xfrm>
          <a:prstGeom prst="rect">
            <a:avLst/>
          </a:prstGeom>
        </p:spPr>
        <p:txBody>
          <a:bodyPr lIns="0" tIns="0" rIns="0" bIns="0" rtlCol="0" anchor="t">
            <a:spAutoFit/>
          </a:bodyPr>
          <a:lstStyle/>
          <a:p>
            <a:pPr algn="l">
              <a:lnSpc>
                <a:spcPts val="3187"/>
              </a:lnSpc>
            </a:pPr>
            <a:r>
              <a:rPr lang="en-US" sz="2000">
                <a:solidFill>
                  <a:srgbClr val="161613"/>
                </a:solidFill>
                <a:latin typeface="Inter"/>
                <a:ea typeface="Inter"/>
                <a:cs typeface="Inter"/>
                <a:sym typeface="Inter"/>
              </a:rPr>
              <a:t>A flexible NoSQL database allowing for agile data modelling and easy scaling to accommodate growing data needs.</a:t>
            </a:r>
          </a:p>
        </p:txBody>
      </p:sp>
      <p:pic>
        <p:nvPicPr>
          <p:cNvPr id="29" name="Picture 28">
            <a:extLst>
              <a:ext uri="{FF2B5EF4-FFF2-40B4-BE49-F238E27FC236}">
                <a16:creationId xmlns:a16="http://schemas.microsoft.com/office/drawing/2014/main" id="{AABF7715-B1A0-7E1A-A53B-361193A7FA3D}"/>
              </a:ext>
            </a:extLst>
          </p:cNvPr>
          <p:cNvPicPr>
            <a:picLocks noChangeAspect="1"/>
          </p:cNvPicPr>
          <p:nvPr/>
        </p:nvPicPr>
        <p:blipFill>
          <a:blip r:embed="rId8"/>
          <a:stretch>
            <a:fillRect/>
          </a:stretch>
        </p:blipFill>
        <p:spPr>
          <a:xfrm>
            <a:off x="0" y="-94285"/>
            <a:ext cx="6857918" cy="5999785"/>
          </a:xfrm>
          <a:prstGeom prst="rect">
            <a:avLst/>
          </a:prstGeom>
        </p:spPr>
      </p:pic>
      <p:pic>
        <p:nvPicPr>
          <p:cNvPr id="30" name="Picture 29">
            <a:extLst>
              <a:ext uri="{FF2B5EF4-FFF2-40B4-BE49-F238E27FC236}">
                <a16:creationId xmlns:a16="http://schemas.microsoft.com/office/drawing/2014/main" id="{B6EF951A-61AA-689C-B653-883B11784E71}"/>
              </a:ext>
            </a:extLst>
          </p:cNvPr>
          <p:cNvPicPr>
            <a:picLocks noChangeAspect="1"/>
          </p:cNvPicPr>
          <p:nvPr/>
        </p:nvPicPr>
        <p:blipFill>
          <a:blip r:embed="rId9"/>
          <a:stretch>
            <a:fillRect/>
          </a:stretch>
        </p:blipFill>
        <p:spPr>
          <a:xfrm>
            <a:off x="-82" y="5905500"/>
            <a:ext cx="6857917" cy="4381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a:ln w="12700">
              <a:solidFill>
                <a:srgbClr val="000000"/>
              </a:solidFill>
            </a:ln>
          </p:spPr>
        </p:sp>
      </p:grpSp>
      <p:grpSp>
        <p:nvGrpSpPr>
          <p:cNvPr id="4" name="Group 4"/>
          <p:cNvGrpSpPr/>
          <p:nvPr/>
        </p:nvGrpSpPr>
        <p:grpSpPr>
          <a:xfrm>
            <a:off x="0" y="-56739"/>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a:ln w="12700">
              <a:solidFill>
                <a:srgbClr val="000000"/>
              </a:solidFill>
            </a:ln>
          </p:spPr>
        </p:sp>
      </p:grpSp>
      <p:sp>
        <p:nvSpPr>
          <p:cNvPr id="10" name="TextBox 10"/>
          <p:cNvSpPr txBox="1"/>
          <p:nvPr/>
        </p:nvSpPr>
        <p:spPr>
          <a:xfrm>
            <a:off x="7850237" y="1006525"/>
            <a:ext cx="9094123" cy="693738"/>
          </a:xfrm>
          <a:prstGeom prst="rect">
            <a:avLst/>
          </a:prstGeom>
        </p:spPr>
        <p:txBody>
          <a:bodyPr lIns="0" tIns="0" rIns="0" bIns="0" rtlCol="0" anchor="t">
            <a:spAutoFit/>
          </a:bodyPr>
          <a:lstStyle/>
          <a:p>
            <a:pPr algn="l">
              <a:lnSpc>
                <a:spcPts val="5562"/>
              </a:lnSpc>
            </a:pPr>
            <a:r>
              <a:rPr lang="en-US" sz="4437" dirty="0">
                <a:solidFill>
                  <a:srgbClr val="161613"/>
                </a:solidFill>
                <a:latin typeface="DM Sans"/>
                <a:ea typeface="DM Sans"/>
                <a:cs typeface="DM Sans"/>
                <a:sym typeface="DM Sans"/>
              </a:rPr>
              <a:t>Secure Authentication with JWT</a:t>
            </a:r>
          </a:p>
        </p:txBody>
      </p:sp>
      <p:sp>
        <p:nvSpPr>
          <p:cNvPr id="11" name="TextBox 11"/>
          <p:cNvSpPr txBox="1"/>
          <p:nvPr/>
        </p:nvSpPr>
        <p:spPr>
          <a:xfrm>
            <a:off x="7850237" y="2073771"/>
            <a:ext cx="9445526" cy="992981"/>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Security is paramount. Our PMS implements JSON Web Tokens (JWT) for secure and reliable user authentication.</a:t>
            </a:r>
          </a:p>
        </p:txBody>
      </p:sp>
      <p:grpSp>
        <p:nvGrpSpPr>
          <p:cNvPr id="12" name="Group 12"/>
          <p:cNvGrpSpPr>
            <a:grpSpLocks noChangeAspect="1"/>
          </p:cNvGrpSpPr>
          <p:nvPr/>
        </p:nvGrpSpPr>
        <p:grpSpPr>
          <a:xfrm>
            <a:off x="7850237" y="3385691"/>
            <a:ext cx="1417588" cy="1701105"/>
            <a:chOff x="0" y="0"/>
            <a:chExt cx="1890117" cy="2268140"/>
          </a:xfrm>
        </p:grpSpPr>
        <p:sp>
          <p:nvSpPr>
            <p:cNvPr id="13" name="Freeform 13" descr="preencoded.png"/>
            <p:cNvSpPr/>
            <p:nvPr/>
          </p:nvSpPr>
          <p:spPr>
            <a:xfrm>
              <a:off x="0" y="0"/>
              <a:ext cx="1890141" cy="2268093"/>
            </a:xfrm>
            <a:custGeom>
              <a:avLst/>
              <a:gdLst/>
              <a:ahLst/>
              <a:cxnLst/>
              <a:rect l="l" t="t" r="r" b="b"/>
              <a:pathLst>
                <a:path w="1890141" h="2268093">
                  <a:moveTo>
                    <a:pt x="0" y="0"/>
                  </a:moveTo>
                  <a:lnTo>
                    <a:pt x="1890141" y="0"/>
                  </a:lnTo>
                  <a:lnTo>
                    <a:pt x="1890141" y="2268093"/>
                  </a:lnTo>
                  <a:lnTo>
                    <a:pt x="0" y="2268093"/>
                  </a:lnTo>
                  <a:lnTo>
                    <a:pt x="0" y="0"/>
                  </a:lnTo>
                  <a:close/>
                </a:path>
              </a:pathLst>
            </a:custGeom>
            <a:blipFill>
              <a:blip r:embed="rId3"/>
              <a:stretch>
                <a:fillRect t="-55" r="1" b="-58"/>
              </a:stretch>
            </a:blipFill>
          </p:spPr>
        </p:sp>
      </p:grpSp>
      <p:sp>
        <p:nvSpPr>
          <p:cNvPr id="14" name="TextBox 14"/>
          <p:cNvSpPr txBox="1"/>
          <p:nvPr/>
        </p:nvSpPr>
        <p:spPr>
          <a:xfrm>
            <a:off x="9551342" y="3659684"/>
            <a:ext cx="3544044" cy="452437"/>
          </a:xfrm>
          <a:prstGeom prst="rect">
            <a:avLst/>
          </a:prstGeom>
        </p:spPr>
        <p:txBody>
          <a:bodyPr lIns="0" tIns="0" rIns="0" bIns="0" rtlCol="0" anchor="t">
            <a:spAutoFit/>
          </a:bodyPr>
          <a:lstStyle/>
          <a:p>
            <a:pPr algn="l">
              <a:lnSpc>
                <a:spcPts val="3437"/>
              </a:lnSpc>
            </a:pPr>
            <a:r>
              <a:rPr lang="en-US" sz="2750">
                <a:solidFill>
                  <a:srgbClr val="161613"/>
                </a:solidFill>
                <a:latin typeface="DM Sans"/>
                <a:ea typeface="DM Sans"/>
                <a:cs typeface="DM Sans"/>
                <a:sym typeface="DM Sans"/>
              </a:rPr>
              <a:t>User Login</a:t>
            </a:r>
          </a:p>
        </p:txBody>
      </p:sp>
      <p:sp>
        <p:nvSpPr>
          <p:cNvPr id="15" name="TextBox 15"/>
          <p:cNvSpPr txBox="1"/>
          <p:nvPr/>
        </p:nvSpPr>
        <p:spPr>
          <a:xfrm>
            <a:off x="9551342" y="4196506"/>
            <a:ext cx="7744420" cy="539354"/>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Users provide credentials to authenticate.</a:t>
            </a:r>
          </a:p>
        </p:txBody>
      </p:sp>
      <p:grpSp>
        <p:nvGrpSpPr>
          <p:cNvPr id="16" name="Group 16"/>
          <p:cNvGrpSpPr>
            <a:grpSpLocks noChangeAspect="1"/>
          </p:cNvGrpSpPr>
          <p:nvPr/>
        </p:nvGrpSpPr>
        <p:grpSpPr>
          <a:xfrm>
            <a:off x="7850237" y="5086796"/>
            <a:ext cx="1417588" cy="2087315"/>
            <a:chOff x="0" y="0"/>
            <a:chExt cx="1890117" cy="2783087"/>
          </a:xfrm>
        </p:grpSpPr>
        <p:sp>
          <p:nvSpPr>
            <p:cNvPr id="17" name="Freeform 17" descr="preencoded.png"/>
            <p:cNvSpPr/>
            <p:nvPr/>
          </p:nvSpPr>
          <p:spPr>
            <a:xfrm>
              <a:off x="0" y="0"/>
              <a:ext cx="1890141" cy="2783078"/>
            </a:xfrm>
            <a:custGeom>
              <a:avLst/>
              <a:gdLst/>
              <a:ahLst/>
              <a:cxnLst/>
              <a:rect l="l" t="t" r="r" b="b"/>
              <a:pathLst>
                <a:path w="1890141" h="2783078">
                  <a:moveTo>
                    <a:pt x="0" y="0"/>
                  </a:moveTo>
                  <a:lnTo>
                    <a:pt x="1890141" y="0"/>
                  </a:lnTo>
                  <a:lnTo>
                    <a:pt x="1890141" y="2783078"/>
                  </a:lnTo>
                  <a:lnTo>
                    <a:pt x="0" y="2783078"/>
                  </a:lnTo>
                  <a:lnTo>
                    <a:pt x="0" y="0"/>
                  </a:lnTo>
                  <a:close/>
                </a:path>
              </a:pathLst>
            </a:custGeom>
            <a:blipFill>
              <a:blip r:embed="rId4"/>
              <a:stretch>
                <a:fillRect l="-89" r="-88"/>
              </a:stretch>
            </a:blipFill>
          </p:spPr>
        </p:sp>
      </p:grpSp>
      <p:sp>
        <p:nvSpPr>
          <p:cNvPr id="18" name="TextBox 18"/>
          <p:cNvSpPr txBox="1"/>
          <p:nvPr/>
        </p:nvSpPr>
        <p:spPr>
          <a:xfrm>
            <a:off x="9551342" y="5360789"/>
            <a:ext cx="3544044" cy="452437"/>
          </a:xfrm>
          <a:prstGeom prst="rect">
            <a:avLst/>
          </a:prstGeom>
        </p:spPr>
        <p:txBody>
          <a:bodyPr lIns="0" tIns="0" rIns="0" bIns="0" rtlCol="0" anchor="t">
            <a:spAutoFit/>
          </a:bodyPr>
          <a:lstStyle/>
          <a:p>
            <a:pPr algn="l">
              <a:lnSpc>
                <a:spcPts val="3437"/>
              </a:lnSpc>
            </a:pPr>
            <a:r>
              <a:rPr lang="en-US" sz="2750">
                <a:solidFill>
                  <a:srgbClr val="161613"/>
                </a:solidFill>
                <a:latin typeface="DM Sans"/>
                <a:ea typeface="DM Sans"/>
                <a:cs typeface="DM Sans"/>
                <a:sym typeface="DM Sans"/>
              </a:rPr>
              <a:t>Token Generation</a:t>
            </a:r>
          </a:p>
        </p:txBody>
      </p:sp>
      <p:sp>
        <p:nvSpPr>
          <p:cNvPr id="19" name="TextBox 19"/>
          <p:cNvSpPr txBox="1"/>
          <p:nvPr/>
        </p:nvSpPr>
        <p:spPr>
          <a:xfrm>
            <a:off x="9551342" y="5897613"/>
            <a:ext cx="7744420" cy="992981"/>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Upon successful login, a unique JWT is generated and sent to the client.</a:t>
            </a:r>
          </a:p>
        </p:txBody>
      </p:sp>
      <p:grpSp>
        <p:nvGrpSpPr>
          <p:cNvPr id="20" name="Group 20"/>
          <p:cNvGrpSpPr>
            <a:grpSpLocks noChangeAspect="1"/>
          </p:cNvGrpSpPr>
          <p:nvPr/>
        </p:nvGrpSpPr>
        <p:grpSpPr>
          <a:xfrm>
            <a:off x="7850237" y="7174111"/>
            <a:ext cx="1417588" cy="2087315"/>
            <a:chOff x="0" y="0"/>
            <a:chExt cx="1890117" cy="2783087"/>
          </a:xfrm>
        </p:grpSpPr>
        <p:sp>
          <p:nvSpPr>
            <p:cNvPr id="21" name="Freeform 21" descr="preencoded.png"/>
            <p:cNvSpPr/>
            <p:nvPr/>
          </p:nvSpPr>
          <p:spPr>
            <a:xfrm>
              <a:off x="0" y="0"/>
              <a:ext cx="1890141" cy="2783078"/>
            </a:xfrm>
            <a:custGeom>
              <a:avLst/>
              <a:gdLst/>
              <a:ahLst/>
              <a:cxnLst/>
              <a:rect l="l" t="t" r="r" b="b"/>
              <a:pathLst>
                <a:path w="1890141" h="2783078">
                  <a:moveTo>
                    <a:pt x="0" y="0"/>
                  </a:moveTo>
                  <a:lnTo>
                    <a:pt x="1890141" y="0"/>
                  </a:lnTo>
                  <a:lnTo>
                    <a:pt x="1890141" y="2783078"/>
                  </a:lnTo>
                  <a:lnTo>
                    <a:pt x="0" y="2783078"/>
                  </a:lnTo>
                  <a:lnTo>
                    <a:pt x="0" y="0"/>
                  </a:lnTo>
                  <a:close/>
                </a:path>
              </a:pathLst>
            </a:custGeom>
            <a:blipFill>
              <a:blip r:embed="rId5"/>
              <a:stretch>
                <a:fillRect l="-89" r="-88"/>
              </a:stretch>
            </a:blipFill>
          </p:spPr>
        </p:sp>
      </p:grpSp>
      <p:sp>
        <p:nvSpPr>
          <p:cNvPr id="22" name="TextBox 22"/>
          <p:cNvSpPr txBox="1"/>
          <p:nvPr/>
        </p:nvSpPr>
        <p:spPr>
          <a:xfrm>
            <a:off x="9551342" y="7448104"/>
            <a:ext cx="3544044" cy="452437"/>
          </a:xfrm>
          <a:prstGeom prst="rect">
            <a:avLst/>
          </a:prstGeom>
        </p:spPr>
        <p:txBody>
          <a:bodyPr lIns="0" tIns="0" rIns="0" bIns="0" rtlCol="0" anchor="t">
            <a:spAutoFit/>
          </a:bodyPr>
          <a:lstStyle/>
          <a:p>
            <a:pPr algn="l">
              <a:lnSpc>
                <a:spcPts val="3437"/>
              </a:lnSpc>
            </a:pPr>
            <a:r>
              <a:rPr lang="en-US" sz="2750">
                <a:solidFill>
                  <a:srgbClr val="161613"/>
                </a:solidFill>
                <a:latin typeface="DM Sans"/>
                <a:ea typeface="DM Sans"/>
                <a:cs typeface="DM Sans"/>
                <a:sym typeface="DM Sans"/>
              </a:rPr>
              <a:t>Secure Access</a:t>
            </a:r>
          </a:p>
        </p:txBody>
      </p:sp>
      <p:sp>
        <p:nvSpPr>
          <p:cNvPr id="23" name="TextBox 23"/>
          <p:cNvSpPr txBox="1"/>
          <p:nvPr/>
        </p:nvSpPr>
        <p:spPr>
          <a:xfrm>
            <a:off x="9551342" y="7984926"/>
            <a:ext cx="7744420" cy="992981"/>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The token is used for subsequent requests, granting access to protected resources.</a:t>
            </a:r>
          </a:p>
        </p:txBody>
      </p:sp>
      <p:pic>
        <p:nvPicPr>
          <p:cNvPr id="24" name="Picture 23" descr="A computer server and a person with a computer&#10;&#10;AI-generated content may be incorrect.">
            <a:extLst>
              <a:ext uri="{FF2B5EF4-FFF2-40B4-BE49-F238E27FC236}">
                <a16:creationId xmlns:a16="http://schemas.microsoft.com/office/drawing/2014/main" id="{606BF2D7-F46F-B597-109A-422DFE575177}"/>
              </a:ext>
            </a:extLst>
          </p:cNvPr>
          <p:cNvPicPr>
            <a:picLocks noChangeAspect="1"/>
          </p:cNvPicPr>
          <p:nvPr/>
        </p:nvPicPr>
        <p:blipFill>
          <a:blip r:embed="rId6"/>
          <a:stretch>
            <a:fillRect/>
          </a:stretch>
        </p:blipFill>
        <p:spPr>
          <a:xfrm>
            <a:off x="378278" y="2022020"/>
            <a:ext cx="6852556" cy="6667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a:ln w="12700">
              <a:solidFill>
                <a:srgbClr val="000000"/>
              </a:solidFill>
            </a:ln>
          </p:spPr>
        </p:sp>
      </p:grpSp>
      <p:sp>
        <p:nvSpPr>
          <p:cNvPr id="6" name="TextBox 6"/>
          <p:cNvSpPr txBox="1"/>
          <p:nvPr/>
        </p:nvSpPr>
        <p:spPr>
          <a:xfrm>
            <a:off x="992237" y="1885504"/>
            <a:ext cx="14106016" cy="693738"/>
          </a:xfrm>
          <a:prstGeom prst="rect">
            <a:avLst/>
          </a:prstGeom>
        </p:spPr>
        <p:txBody>
          <a:bodyPr lIns="0" tIns="0" rIns="0" bIns="0" rtlCol="0" anchor="t">
            <a:spAutoFit/>
          </a:bodyPr>
          <a:lstStyle/>
          <a:p>
            <a:pPr algn="l">
              <a:lnSpc>
                <a:spcPts val="5562"/>
              </a:lnSpc>
            </a:pPr>
            <a:r>
              <a:rPr lang="en-US" sz="4437">
                <a:solidFill>
                  <a:srgbClr val="161613"/>
                </a:solidFill>
                <a:latin typeface="DM Sans"/>
                <a:ea typeface="DM Sans"/>
                <a:cs typeface="DM Sans"/>
                <a:sym typeface="DM Sans"/>
              </a:rPr>
              <a:t>Sleek and Responsive Styling with Tailwind CSS</a:t>
            </a:r>
          </a:p>
        </p:txBody>
      </p:sp>
      <p:sp>
        <p:nvSpPr>
          <p:cNvPr id="7" name="TextBox 7"/>
          <p:cNvSpPr txBox="1"/>
          <p:nvPr/>
        </p:nvSpPr>
        <p:spPr>
          <a:xfrm>
            <a:off x="992238" y="3207841"/>
            <a:ext cx="7805886" cy="1900237"/>
          </a:xfrm>
          <a:prstGeom prst="rect">
            <a:avLst/>
          </a:prstGeom>
        </p:spPr>
        <p:txBody>
          <a:bodyPr lIns="0" tIns="0" rIns="0" bIns="0" rtlCol="0" anchor="t">
            <a:spAutoFit/>
          </a:bodyPr>
          <a:lstStyle/>
          <a:p>
            <a:pPr algn="l">
              <a:lnSpc>
                <a:spcPts val="3562"/>
              </a:lnSpc>
            </a:pPr>
            <a:r>
              <a:rPr lang="en-US" sz="2187" b="1">
                <a:solidFill>
                  <a:srgbClr val="161613"/>
                </a:solidFill>
                <a:latin typeface="Inter Bold"/>
                <a:ea typeface="Inter Bold"/>
                <a:cs typeface="Inter Bold"/>
                <a:sym typeface="Inter Bold"/>
              </a:rPr>
              <a:t>Tailwind CSS</a:t>
            </a:r>
            <a:r>
              <a:rPr lang="en-US" sz="2187">
                <a:solidFill>
                  <a:srgbClr val="161613"/>
                </a:solidFill>
                <a:latin typeface="Inter"/>
                <a:ea typeface="Inter"/>
                <a:cs typeface="Inter"/>
                <a:sym typeface="Inter"/>
              </a:rPr>
              <a:t> ensures that our Placement Management System offers a visually appealing and highly responsive design across all devices—desktops, tablets, and mobile phones.</a:t>
            </a:r>
          </a:p>
        </p:txBody>
      </p:sp>
      <p:sp>
        <p:nvSpPr>
          <p:cNvPr id="8" name="TextBox 8"/>
          <p:cNvSpPr txBox="1"/>
          <p:nvPr/>
        </p:nvSpPr>
        <p:spPr>
          <a:xfrm>
            <a:off x="992238" y="5277445"/>
            <a:ext cx="7805886" cy="992981"/>
          </a:xfrm>
          <a:prstGeom prst="rect">
            <a:avLst/>
          </a:prstGeom>
        </p:spPr>
        <p:txBody>
          <a:bodyPr lIns="0" tIns="0" rIns="0" bIns="0" rtlCol="0" anchor="t">
            <a:spAutoFit/>
          </a:bodyPr>
          <a:lstStyle/>
          <a:p>
            <a:pPr marL="329902" lvl="1" indent="-164951" algn="l">
              <a:lnSpc>
                <a:spcPts val="3562"/>
              </a:lnSpc>
              <a:buFont typeface="Arial"/>
              <a:buChar char="•"/>
            </a:pPr>
            <a:r>
              <a:rPr lang="en-US" sz="2187" b="1">
                <a:solidFill>
                  <a:srgbClr val="161613"/>
                </a:solidFill>
                <a:latin typeface="Inter Bold"/>
                <a:ea typeface="Inter Bold"/>
                <a:cs typeface="Inter Bold"/>
                <a:sym typeface="Inter Bold"/>
              </a:rPr>
              <a:t>Utility-First Approach:</a:t>
            </a:r>
            <a:r>
              <a:rPr lang="en-US" sz="2187">
                <a:solidFill>
                  <a:srgbClr val="161613"/>
                </a:solidFill>
                <a:latin typeface="Inter"/>
                <a:ea typeface="Inter"/>
                <a:cs typeface="Inter"/>
                <a:sym typeface="Inter"/>
              </a:rPr>
              <a:t> Rapidly build custom designs without writing custom CSS.</a:t>
            </a:r>
          </a:p>
        </p:txBody>
      </p:sp>
      <p:sp>
        <p:nvSpPr>
          <p:cNvPr id="9" name="TextBox 9"/>
          <p:cNvSpPr txBox="1"/>
          <p:nvPr/>
        </p:nvSpPr>
        <p:spPr>
          <a:xfrm>
            <a:off x="992238" y="6283821"/>
            <a:ext cx="7805886" cy="992981"/>
          </a:xfrm>
          <a:prstGeom prst="rect">
            <a:avLst/>
          </a:prstGeom>
        </p:spPr>
        <p:txBody>
          <a:bodyPr lIns="0" tIns="0" rIns="0" bIns="0" rtlCol="0" anchor="t">
            <a:spAutoFit/>
          </a:bodyPr>
          <a:lstStyle/>
          <a:p>
            <a:pPr marL="329902" lvl="1" indent="-164951" algn="l">
              <a:lnSpc>
                <a:spcPts val="3562"/>
              </a:lnSpc>
              <a:buFont typeface="Arial"/>
              <a:buChar char="•"/>
            </a:pPr>
            <a:r>
              <a:rPr lang="en-US" sz="2187" b="1">
                <a:solidFill>
                  <a:srgbClr val="161613"/>
                </a:solidFill>
                <a:latin typeface="Inter Bold"/>
                <a:ea typeface="Inter Bold"/>
                <a:cs typeface="Inter Bold"/>
                <a:sym typeface="Inter Bold"/>
              </a:rPr>
              <a:t>Responsive Design:</a:t>
            </a:r>
            <a:r>
              <a:rPr lang="en-US" sz="2187">
                <a:solidFill>
                  <a:srgbClr val="161613"/>
                </a:solidFill>
                <a:latin typeface="Inter"/>
                <a:ea typeface="Inter"/>
                <a:cs typeface="Inter"/>
                <a:sym typeface="Inter"/>
              </a:rPr>
              <a:t> Adapts seamlessly to any screen size for optimal viewing.</a:t>
            </a:r>
          </a:p>
        </p:txBody>
      </p:sp>
      <p:sp>
        <p:nvSpPr>
          <p:cNvPr id="10" name="TextBox 10"/>
          <p:cNvSpPr txBox="1"/>
          <p:nvPr/>
        </p:nvSpPr>
        <p:spPr>
          <a:xfrm>
            <a:off x="992238" y="7290198"/>
            <a:ext cx="7805886" cy="992981"/>
          </a:xfrm>
          <a:prstGeom prst="rect">
            <a:avLst/>
          </a:prstGeom>
        </p:spPr>
        <p:txBody>
          <a:bodyPr lIns="0" tIns="0" rIns="0" bIns="0" rtlCol="0" anchor="t">
            <a:spAutoFit/>
          </a:bodyPr>
          <a:lstStyle/>
          <a:p>
            <a:pPr marL="329902" lvl="1" indent="-164951" algn="l">
              <a:lnSpc>
                <a:spcPts val="3562"/>
              </a:lnSpc>
              <a:buFont typeface="Arial"/>
              <a:buChar char="•"/>
            </a:pPr>
            <a:r>
              <a:rPr lang="en-US" sz="2187" b="1">
                <a:solidFill>
                  <a:srgbClr val="161613"/>
                </a:solidFill>
                <a:latin typeface="Inter Bold"/>
                <a:ea typeface="Inter Bold"/>
                <a:cs typeface="Inter Bold"/>
                <a:sym typeface="Inter Bold"/>
              </a:rPr>
              <a:t>Modern Aesthetics:</a:t>
            </a:r>
            <a:r>
              <a:rPr lang="en-US" sz="2187">
                <a:solidFill>
                  <a:srgbClr val="161613"/>
                </a:solidFill>
                <a:latin typeface="Inter"/>
                <a:ea typeface="Inter"/>
                <a:cs typeface="Inter"/>
                <a:sym typeface="Inter"/>
              </a:rPr>
              <a:t> Delivers a clean, professional, and intuitive interface.</a:t>
            </a:r>
          </a:p>
        </p:txBody>
      </p:sp>
      <p:grpSp>
        <p:nvGrpSpPr>
          <p:cNvPr id="11" name="Group 11"/>
          <p:cNvGrpSpPr>
            <a:grpSpLocks noChangeAspect="1"/>
          </p:cNvGrpSpPr>
          <p:nvPr/>
        </p:nvGrpSpPr>
        <p:grpSpPr>
          <a:xfrm>
            <a:off x="9499401" y="3357414"/>
            <a:ext cx="5103614" cy="2835325"/>
            <a:chOff x="0" y="0"/>
            <a:chExt cx="6804818" cy="3780433"/>
          </a:xfrm>
        </p:grpSpPr>
        <p:sp>
          <p:nvSpPr>
            <p:cNvPr id="12" name="Freeform 12" descr="preencoded.png"/>
            <p:cNvSpPr/>
            <p:nvPr/>
          </p:nvSpPr>
          <p:spPr>
            <a:xfrm>
              <a:off x="0" y="0"/>
              <a:ext cx="6804787" cy="3780409"/>
            </a:xfrm>
            <a:custGeom>
              <a:avLst/>
              <a:gdLst/>
              <a:ahLst/>
              <a:cxnLst/>
              <a:rect l="l" t="t" r="r" b="b"/>
              <a:pathLst>
                <a:path w="6804787" h="3780409">
                  <a:moveTo>
                    <a:pt x="0" y="0"/>
                  </a:moveTo>
                  <a:lnTo>
                    <a:pt x="6804787" y="0"/>
                  </a:lnTo>
                  <a:lnTo>
                    <a:pt x="6804787" y="3780409"/>
                  </a:lnTo>
                  <a:lnTo>
                    <a:pt x="0" y="3780409"/>
                  </a:lnTo>
                  <a:lnTo>
                    <a:pt x="0" y="0"/>
                  </a:lnTo>
                  <a:close/>
                </a:path>
              </a:pathLst>
            </a:custGeom>
            <a:blipFill>
              <a:blip r:embed="rId3"/>
              <a:stretch>
                <a:fillRect t="-37" b="-38"/>
              </a:stretch>
            </a:blipFill>
          </p:spPr>
        </p:sp>
      </p:grpSp>
      <p:pic>
        <p:nvPicPr>
          <p:cNvPr id="13" name="Picture 12">
            <a:extLst>
              <a:ext uri="{FF2B5EF4-FFF2-40B4-BE49-F238E27FC236}">
                <a16:creationId xmlns:a16="http://schemas.microsoft.com/office/drawing/2014/main" id="{9768250D-62DF-0CE4-F1D8-E9DBB6B9F141}"/>
              </a:ext>
            </a:extLst>
          </p:cNvPr>
          <p:cNvPicPr>
            <a:picLocks noChangeAspect="1"/>
          </p:cNvPicPr>
          <p:nvPr/>
        </p:nvPicPr>
        <p:blipFill>
          <a:blip r:embed="rId4"/>
          <a:stretch>
            <a:fillRect/>
          </a:stretch>
        </p:blipFill>
        <p:spPr>
          <a:xfrm>
            <a:off x="9509233" y="3357414"/>
            <a:ext cx="7000875" cy="41482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a:ln w="12700">
              <a:solidFill>
                <a:srgbClr val="000000"/>
              </a:solidFill>
            </a:ln>
          </p:spPr>
        </p:sp>
      </p:grpSp>
      <p:sp>
        <p:nvSpPr>
          <p:cNvPr id="6" name="TextBox 6"/>
          <p:cNvSpPr txBox="1"/>
          <p:nvPr/>
        </p:nvSpPr>
        <p:spPr>
          <a:xfrm>
            <a:off x="992238" y="1830437"/>
            <a:ext cx="9179420" cy="693738"/>
          </a:xfrm>
          <a:prstGeom prst="rect">
            <a:avLst/>
          </a:prstGeom>
        </p:spPr>
        <p:txBody>
          <a:bodyPr lIns="0" tIns="0" rIns="0" bIns="0" rtlCol="0" anchor="t">
            <a:spAutoFit/>
          </a:bodyPr>
          <a:lstStyle/>
          <a:p>
            <a:pPr algn="l">
              <a:lnSpc>
                <a:spcPts val="5562"/>
              </a:lnSpc>
            </a:pPr>
            <a:r>
              <a:rPr lang="en-US" sz="4437">
                <a:solidFill>
                  <a:srgbClr val="161613"/>
                </a:solidFill>
                <a:latin typeface="DM Sans"/>
                <a:ea typeface="DM Sans"/>
                <a:cs typeface="DM Sans"/>
                <a:sym typeface="DM Sans"/>
              </a:rPr>
              <a:t>Benefits of DAVU PMS</a:t>
            </a:r>
          </a:p>
        </p:txBody>
      </p:sp>
      <p:sp>
        <p:nvSpPr>
          <p:cNvPr id="7" name="TextBox 7"/>
          <p:cNvSpPr txBox="1"/>
          <p:nvPr/>
        </p:nvSpPr>
        <p:spPr>
          <a:xfrm>
            <a:off x="992238" y="3039516"/>
            <a:ext cx="16303526" cy="539354"/>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Implementing our PMS brings significant advantages to the institution.</a:t>
            </a:r>
          </a:p>
        </p:txBody>
      </p:sp>
      <p:sp>
        <p:nvSpPr>
          <p:cNvPr id="8" name="Freeform 8" descr="preencoded.png"/>
          <p:cNvSpPr/>
          <p:nvPr/>
        </p:nvSpPr>
        <p:spPr>
          <a:xfrm>
            <a:off x="992238" y="3897809"/>
            <a:ext cx="850553" cy="850553"/>
          </a:xfrm>
          <a:custGeom>
            <a:avLst/>
            <a:gdLst/>
            <a:ahLst/>
            <a:cxnLst/>
            <a:rect l="l" t="t" r="r" b="b"/>
            <a:pathLst>
              <a:path w="850553" h="850553">
                <a:moveTo>
                  <a:pt x="0" y="0"/>
                </a:moveTo>
                <a:lnTo>
                  <a:pt x="850552" y="0"/>
                </a:lnTo>
                <a:lnTo>
                  <a:pt x="850552" y="850552"/>
                </a:lnTo>
                <a:lnTo>
                  <a:pt x="0" y="850552"/>
                </a:lnTo>
                <a:lnTo>
                  <a:pt x="0" y="0"/>
                </a:lnTo>
                <a:close/>
              </a:path>
            </a:pathLst>
          </a:custGeom>
          <a:blipFill>
            <a:blip r:embed="rId3">
              <a:extLst>
                <a:ext uri="{96DAC541-7B7A-43D3-8B79-37D633B846F1}">
                  <asvg:svgBlip xmlns:asvg="http://schemas.microsoft.com/office/drawing/2016/SVG/main" r:embed="rId4"/>
                </a:ext>
              </a:extLst>
            </a:blip>
            <a:stretch>
              <a:fillRect l="-3888" r="-3888"/>
            </a:stretch>
          </a:blipFill>
        </p:spPr>
      </p:sp>
      <p:sp>
        <p:nvSpPr>
          <p:cNvPr id="9" name="TextBox 9"/>
          <p:cNvSpPr txBox="1"/>
          <p:nvPr/>
        </p:nvSpPr>
        <p:spPr>
          <a:xfrm>
            <a:off x="2197150" y="4127450"/>
            <a:ext cx="3544044" cy="452437"/>
          </a:xfrm>
          <a:prstGeom prst="rect">
            <a:avLst/>
          </a:prstGeom>
        </p:spPr>
        <p:txBody>
          <a:bodyPr lIns="0" tIns="0" rIns="0" bIns="0" rtlCol="0" anchor="t">
            <a:spAutoFit/>
          </a:bodyPr>
          <a:lstStyle/>
          <a:p>
            <a:pPr algn="l">
              <a:lnSpc>
                <a:spcPts val="3437"/>
              </a:lnSpc>
            </a:pPr>
            <a:r>
              <a:rPr lang="en-US" sz="2750">
                <a:solidFill>
                  <a:srgbClr val="161613"/>
                </a:solidFill>
                <a:latin typeface="DM Sans"/>
                <a:ea typeface="DM Sans"/>
                <a:cs typeface="DM Sans"/>
                <a:sym typeface="DM Sans"/>
              </a:rPr>
              <a:t>Enhanced Efficiency</a:t>
            </a:r>
          </a:p>
        </p:txBody>
      </p:sp>
      <p:sp>
        <p:nvSpPr>
          <p:cNvPr id="10" name="TextBox 10"/>
          <p:cNvSpPr txBox="1"/>
          <p:nvPr/>
        </p:nvSpPr>
        <p:spPr>
          <a:xfrm>
            <a:off x="2197150" y="4664274"/>
            <a:ext cx="6769596" cy="992981"/>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Automate administrative tasks, saving time and resources for your TPO team.</a:t>
            </a:r>
          </a:p>
        </p:txBody>
      </p:sp>
      <p:sp>
        <p:nvSpPr>
          <p:cNvPr id="11" name="Freeform 11" descr="preencoded.png"/>
          <p:cNvSpPr/>
          <p:nvPr/>
        </p:nvSpPr>
        <p:spPr>
          <a:xfrm>
            <a:off x="9321105" y="3897809"/>
            <a:ext cx="850553" cy="850553"/>
          </a:xfrm>
          <a:custGeom>
            <a:avLst/>
            <a:gdLst/>
            <a:ahLst/>
            <a:cxnLst/>
            <a:rect l="l" t="t" r="r" b="b"/>
            <a:pathLst>
              <a:path w="850553" h="850553">
                <a:moveTo>
                  <a:pt x="0" y="0"/>
                </a:moveTo>
                <a:lnTo>
                  <a:pt x="850553" y="0"/>
                </a:lnTo>
                <a:lnTo>
                  <a:pt x="850553" y="850552"/>
                </a:lnTo>
                <a:lnTo>
                  <a:pt x="0" y="8505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TextBox 12"/>
          <p:cNvSpPr txBox="1"/>
          <p:nvPr/>
        </p:nvSpPr>
        <p:spPr>
          <a:xfrm>
            <a:off x="10526017" y="4127450"/>
            <a:ext cx="3840064" cy="452437"/>
          </a:xfrm>
          <a:prstGeom prst="rect">
            <a:avLst/>
          </a:prstGeom>
        </p:spPr>
        <p:txBody>
          <a:bodyPr lIns="0" tIns="0" rIns="0" bIns="0" rtlCol="0" anchor="t">
            <a:spAutoFit/>
          </a:bodyPr>
          <a:lstStyle/>
          <a:p>
            <a:pPr algn="l">
              <a:lnSpc>
                <a:spcPts val="3437"/>
              </a:lnSpc>
            </a:pPr>
            <a:r>
              <a:rPr lang="en-US" sz="2750">
                <a:solidFill>
                  <a:srgbClr val="161613"/>
                </a:solidFill>
                <a:latin typeface="DM Sans"/>
                <a:ea typeface="DM Sans"/>
                <a:cs typeface="DM Sans"/>
                <a:sym typeface="DM Sans"/>
              </a:rPr>
              <a:t>Improved Data Insights</a:t>
            </a:r>
          </a:p>
        </p:txBody>
      </p:sp>
      <p:sp>
        <p:nvSpPr>
          <p:cNvPr id="13" name="TextBox 13"/>
          <p:cNvSpPr txBox="1"/>
          <p:nvPr/>
        </p:nvSpPr>
        <p:spPr>
          <a:xfrm>
            <a:off x="10526017" y="4664274"/>
            <a:ext cx="6769745" cy="992981"/>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Access comprehensive reports and analytics to track placement performance and identify trends.</a:t>
            </a:r>
          </a:p>
        </p:txBody>
      </p:sp>
      <p:sp>
        <p:nvSpPr>
          <p:cNvPr id="14" name="Freeform 14" descr="preencoded.png"/>
          <p:cNvSpPr/>
          <p:nvPr/>
        </p:nvSpPr>
        <p:spPr>
          <a:xfrm>
            <a:off x="992238" y="6224290"/>
            <a:ext cx="850553" cy="850552"/>
          </a:xfrm>
          <a:custGeom>
            <a:avLst/>
            <a:gdLst/>
            <a:ahLst/>
            <a:cxnLst/>
            <a:rect l="l" t="t" r="r" b="b"/>
            <a:pathLst>
              <a:path w="850553" h="850552">
                <a:moveTo>
                  <a:pt x="0" y="0"/>
                </a:moveTo>
                <a:lnTo>
                  <a:pt x="850552" y="0"/>
                </a:lnTo>
                <a:lnTo>
                  <a:pt x="850552" y="850552"/>
                </a:lnTo>
                <a:lnTo>
                  <a:pt x="0" y="850552"/>
                </a:lnTo>
                <a:lnTo>
                  <a:pt x="0" y="0"/>
                </a:lnTo>
                <a:close/>
              </a:path>
            </a:pathLst>
          </a:custGeom>
          <a:blipFill>
            <a:blip r:embed="rId7">
              <a:extLst>
                <a:ext uri="{96DAC541-7B7A-43D3-8B79-37D633B846F1}">
                  <asvg:svgBlip xmlns:asvg="http://schemas.microsoft.com/office/drawing/2016/SVG/main" r:embed="rId8"/>
                </a:ext>
              </a:extLst>
            </a:blip>
            <a:stretch>
              <a:fillRect t="-16666" b="-16666"/>
            </a:stretch>
          </a:blipFill>
        </p:spPr>
      </p:sp>
      <p:sp>
        <p:nvSpPr>
          <p:cNvPr id="15" name="TextBox 15"/>
          <p:cNvSpPr txBox="1"/>
          <p:nvPr/>
        </p:nvSpPr>
        <p:spPr>
          <a:xfrm>
            <a:off x="2197150" y="6453931"/>
            <a:ext cx="4654749" cy="452437"/>
          </a:xfrm>
          <a:prstGeom prst="rect">
            <a:avLst/>
          </a:prstGeom>
        </p:spPr>
        <p:txBody>
          <a:bodyPr lIns="0" tIns="0" rIns="0" bIns="0" rtlCol="0" anchor="t">
            <a:spAutoFit/>
          </a:bodyPr>
          <a:lstStyle/>
          <a:p>
            <a:pPr algn="l">
              <a:lnSpc>
                <a:spcPts val="3437"/>
              </a:lnSpc>
            </a:pPr>
            <a:r>
              <a:rPr lang="en-US" sz="2750">
                <a:solidFill>
                  <a:srgbClr val="161613"/>
                </a:solidFill>
                <a:latin typeface="DM Sans"/>
                <a:ea typeface="DM Sans"/>
                <a:cs typeface="DM Sans"/>
                <a:sym typeface="DM Sans"/>
              </a:rPr>
              <a:t>Boosted Student Outcomes</a:t>
            </a:r>
          </a:p>
        </p:txBody>
      </p:sp>
      <p:sp>
        <p:nvSpPr>
          <p:cNvPr id="16" name="TextBox 16"/>
          <p:cNvSpPr txBox="1"/>
          <p:nvPr/>
        </p:nvSpPr>
        <p:spPr>
          <a:xfrm>
            <a:off x="2197150" y="6990755"/>
            <a:ext cx="6769596" cy="1446610"/>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Empower students with better access to opportunities and a streamlined application process.</a:t>
            </a:r>
          </a:p>
        </p:txBody>
      </p:sp>
      <p:sp>
        <p:nvSpPr>
          <p:cNvPr id="17" name="Freeform 17" descr="preencoded.png"/>
          <p:cNvSpPr/>
          <p:nvPr/>
        </p:nvSpPr>
        <p:spPr>
          <a:xfrm>
            <a:off x="9321105" y="6224290"/>
            <a:ext cx="850553" cy="850552"/>
          </a:xfrm>
          <a:custGeom>
            <a:avLst/>
            <a:gdLst/>
            <a:ahLst/>
            <a:cxnLst/>
            <a:rect l="l" t="t" r="r" b="b"/>
            <a:pathLst>
              <a:path w="850553" h="850552">
                <a:moveTo>
                  <a:pt x="0" y="0"/>
                </a:moveTo>
                <a:lnTo>
                  <a:pt x="850553" y="0"/>
                </a:lnTo>
                <a:lnTo>
                  <a:pt x="850553" y="850552"/>
                </a:lnTo>
                <a:lnTo>
                  <a:pt x="0" y="850552"/>
                </a:lnTo>
                <a:lnTo>
                  <a:pt x="0" y="0"/>
                </a:lnTo>
                <a:close/>
              </a:path>
            </a:pathLst>
          </a:custGeom>
          <a:blipFill>
            <a:blip r:embed="rId9">
              <a:extLst>
                <a:ext uri="{96DAC541-7B7A-43D3-8B79-37D633B846F1}">
                  <asvg:svgBlip xmlns:asvg="http://schemas.microsoft.com/office/drawing/2016/SVG/main" r:embed="rId10"/>
                </a:ext>
              </a:extLst>
            </a:blip>
            <a:stretch>
              <a:fillRect l="-4444" r="-4444"/>
            </a:stretch>
          </a:blipFill>
        </p:spPr>
      </p:sp>
      <p:sp>
        <p:nvSpPr>
          <p:cNvPr id="18" name="TextBox 18"/>
          <p:cNvSpPr txBox="1"/>
          <p:nvPr/>
        </p:nvSpPr>
        <p:spPr>
          <a:xfrm>
            <a:off x="10526017" y="6453931"/>
            <a:ext cx="4340870" cy="452437"/>
          </a:xfrm>
          <a:prstGeom prst="rect">
            <a:avLst/>
          </a:prstGeom>
        </p:spPr>
        <p:txBody>
          <a:bodyPr lIns="0" tIns="0" rIns="0" bIns="0" rtlCol="0" anchor="t">
            <a:spAutoFit/>
          </a:bodyPr>
          <a:lstStyle/>
          <a:p>
            <a:pPr algn="l">
              <a:lnSpc>
                <a:spcPts val="3437"/>
              </a:lnSpc>
            </a:pPr>
            <a:r>
              <a:rPr lang="en-US" sz="2750">
                <a:solidFill>
                  <a:srgbClr val="161613"/>
                </a:solidFill>
                <a:latin typeface="DM Sans"/>
                <a:ea typeface="DM Sans"/>
                <a:cs typeface="DM Sans"/>
                <a:sym typeface="DM Sans"/>
              </a:rPr>
              <a:t>Seamless Communication</a:t>
            </a:r>
          </a:p>
        </p:txBody>
      </p:sp>
      <p:sp>
        <p:nvSpPr>
          <p:cNvPr id="19" name="TextBox 19"/>
          <p:cNvSpPr txBox="1"/>
          <p:nvPr/>
        </p:nvSpPr>
        <p:spPr>
          <a:xfrm>
            <a:off x="10526017" y="6990755"/>
            <a:ext cx="6769745" cy="992981"/>
          </a:xfrm>
          <a:prstGeom prst="rect">
            <a:avLst/>
          </a:prstGeom>
        </p:spPr>
        <p:txBody>
          <a:bodyPr lIns="0" tIns="0" rIns="0" bIns="0" rtlCol="0" anchor="t">
            <a:spAutoFit/>
          </a:bodyPr>
          <a:lstStyle/>
          <a:p>
            <a:pPr algn="l">
              <a:lnSpc>
                <a:spcPts val="3562"/>
              </a:lnSpc>
            </a:pPr>
            <a:r>
              <a:rPr lang="en-US" sz="2187">
                <a:solidFill>
                  <a:srgbClr val="161613"/>
                </a:solidFill>
                <a:latin typeface="Inter"/>
                <a:ea typeface="Inter"/>
                <a:cs typeface="Inter"/>
                <a:sym typeface="Inter"/>
              </a:rPr>
              <a:t>Facilitate clearer and faster communication between students, TPO, and companies.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6E2DB"/>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9F8F5"/>
            </a:solidFill>
            <a:ln w="12700">
              <a:solidFill>
                <a:srgbClr val="000000"/>
              </a:solidFill>
            </a:ln>
          </p:spPr>
        </p:sp>
      </p:grpSp>
      <p:sp>
        <p:nvSpPr>
          <p:cNvPr id="6" name="TextBox 6"/>
          <p:cNvSpPr txBox="1"/>
          <p:nvPr/>
        </p:nvSpPr>
        <p:spPr>
          <a:xfrm>
            <a:off x="6769608" y="1673986"/>
            <a:ext cx="5670649" cy="727770"/>
          </a:xfrm>
          <a:prstGeom prst="rect">
            <a:avLst/>
          </a:prstGeom>
        </p:spPr>
        <p:txBody>
          <a:bodyPr lIns="0" tIns="0" rIns="0" bIns="0" rtlCol="0" anchor="t">
            <a:spAutoFit/>
          </a:bodyPr>
          <a:lstStyle/>
          <a:p>
            <a:pPr algn="l">
              <a:lnSpc>
                <a:spcPts val="5562"/>
              </a:lnSpc>
            </a:pPr>
            <a:r>
              <a:rPr lang="en-US" sz="4437">
                <a:solidFill>
                  <a:srgbClr val="161613"/>
                </a:solidFill>
                <a:latin typeface="DM Sans"/>
                <a:ea typeface="DM Sans"/>
                <a:cs typeface="DM Sans"/>
                <a:sym typeface="DM Sans"/>
              </a:rPr>
              <a:t>CONCLUSION </a:t>
            </a:r>
          </a:p>
        </p:txBody>
      </p:sp>
      <p:sp>
        <p:nvSpPr>
          <p:cNvPr id="7" name="TextBox 7"/>
          <p:cNvSpPr txBox="1"/>
          <p:nvPr/>
        </p:nvSpPr>
        <p:spPr>
          <a:xfrm>
            <a:off x="992238" y="3178671"/>
            <a:ext cx="16303526" cy="2677120"/>
          </a:xfrm>
          <a:prstGeom prst="rect">
            <a:avLst/>
          </a:prstGeom>
        </p:spPr>
        <p:txBody>
          <a:bodyPr lIns="0" tIns="0" rIns="0" bIns="0" rtlCol="0" anchor="t">
            <a:spAutoFit/>
          </a:bodyPr>
          <a:lstStyle/>
          <a:p>
            <a:pPr algn="l">
              <a:lnSpc>
                <a:spcPts val="4125"/>
              </a:lnSpc>
            </a:pPr>
            <a:r>
              <a:rPr lang="en-US" sz="3312">
                <a:solidFill>
                  <a:srgbClr val="161613"/>
                </a:solidFill>
                <a:latin typeface="DM Sans"/>
                <a:ea typeface="DM Sans"/>
                <a:cs typeface="DM Sans"/>
                <a:sym typeface="DM Sans"/>
              </a:rPr>
              <a:t> The </a:t>
            </a:r>
            <a:r>
              <a:rPr lang="en-US" sz="3312" i="1">
                <a:solidFill>
                  <a:srgbClr val="161613"/>
                </a:solidFill>
                <a:latin typeface="DM Sans Italics"/>
                <a:ea typeface="DM Sans Italics"/>
                <a:cs typeface="DM Sans Italics"/>
                <a:sym typeface="DM Sans Italics"/>
              </a:rPr>
              <a:t>DAVU Placement Management System</a:t>
            </a:r>
            <a:r>
              <a:rPr lang="en-US" sz="3312">
                <a:solidFill>
                  <a:srgbClr val="161613"/>
                </a:solidFill>
                <a:latin typeface="DM Sans"/>
                <a:ea typeface="DM Sans"/>
                <a:cs typeface="DM Sans"/>
                <a:sym typeface="DM Sans"/>
              </a:rPr>
              <a:t> successfully streamlines and digitizes the entire placement process, offering an efficient platform for students, administrators, and recruiters. By automating job postings, applications, resume management, and user roles, the system reduces manual effort and improves accuracy. </a:t>
            </a:r>
          </a:p>
        </p:txBody>
      </p:sp>
      <p:sp>
        <p:nvSpPr>
          <p:cNvPr id="8" name="TextBox 8"/>
          <p:cNvSpPr txBox="1"/>
          <p:nvPr/>
        </p:nvSpPr>
        <p:spPr>
          <a:xfrm>
            <a:off x="992238" y="5950149"/>
            <a:ext cx="16303526" cy="1082279"/>
          </a:xfrm>
          <a:prstGeom prst="rect">
            <a:avLst/>
          </a:prstGeom>
        </p:spPr>
        <p:txBody>
          <a:bodyPr lIns="0" tIns="0" rIns="0" bIns="0" rtlCol="0" anchor="t">
            <a:spAutoFit/>
          </a:bodyPr>
          <a:lstStyle/>
          <a:p>
            <a:pPr algn="l">
              <a:lnSpc>
                <a:spcPts val="4125"/>
              </a:lnSpc>
            </a:pPr>
            <a:r>
              <a:rPr lang="en-US" sz="3312">
                <a:solidFill>
                  <a:srgbClr val="161613"/>
                </a:solidFill>
                <a:latin typeface="DM Sans"/>
                <a:ea typeface="DM Sans"/>
                <a:cs typeface="DM Sans"/>
                <a:sym typeface="DM Sans"/>
              </a:rPr>
              <a:t>Overall, it provides a more transparent, organized, and user-friendly experience, contributing to a smoother and more effective placement ecosystem.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814</Words>
  <Application>Microsoft Office PowerPoint</Application>
  <PresentationFormat>Custom</PresentationFormat>
  <Paragraphs>96</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INTRODUCTION.pptx</dc:title>
  <dc:creator>Admin</dc:creator>
  <cp:lastModifiedBy>saloni salaria</cp:lastModifiedBy>
  <cp:revision>25</cp:revision>
  <dcterms:created xsi:type="dcterms:W3CDTF">2006-08-16T00:00:00Z</dcterms:created>
  <dcterms:modified xsi:type="dcterms:W3CDTF">2025-11-30T17:54:52Z</dcterms:modified>
  <dc:identifier>DAG6LoRAcxU</dc:identifier>
</cp:coreProperties>
</file>